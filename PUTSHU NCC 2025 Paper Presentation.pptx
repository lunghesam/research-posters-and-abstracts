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61" r:id="rId5"/>
    <p:sldId id="263" r:id="rId6"/>
    <p:sldId id="264" r:id="rId7"/>
    <p:sldId id="265" r:id="rId8"/>
    <p:sldId id="262" r:id="rId9"/>
    <p:sldId id="267" r:id="rId10"/>
    <p:sldId id="268" r:id="rId11"/>
    <p:sldId id="269" r:id="rId12"/>
    <p:sldId id="270" r:id="rId13"/>
    <p:sldId id="266" r:id="rId14"/>
    <p:sldId id="260" r:id="rId15"/>
    <p:sldId id="259" r:id="rId16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0DC2"/>
    <a:srgbClr val="0D0F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508"/>
    <p:restoredTop sz="94685"/>
  </p:normalViewPr>
  <p:slideViewPr>
    <p:cSldViewPr snapToGrid="0">
      <p:cViewPr>
        <p:scale>
          <a:sx n="80" d="100"/>
          <a:sy n="80" d="100"/>
        </p:scale>
        <p:origin x="10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70286-85EA-40D3-9BB0-51976FAEA055}" type="datetimeFigureOut">
              <a:rPr lang="en-US" smtClean="0"/>
              <a:t>9/29/2025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CAFDA-1A8D-4079-8183-7E29A85E0D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716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3875A-57E4-FBEE-A422-41713AD493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D00F51-6F39-A946-A626-F31B15C690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A5AD60-B48A-6F69-FA58-1F1D98FA97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7D13E9-9270-405F-9E7A-BF367CAEB568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D49910-6CBD-57D0-4302-004CAFC6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EA9AD2-ABCA-27E8-58BC-6A1B8D125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111</a:t>
            </a:r>
            <a:fld id="{48E03CAE-3C85-9542-A861-E6B55C58034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057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5FFF7-EF9E-4BFA-E44C-5165F288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746457"/>
            <a:ext cx="8627166" cy="43183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4EA48B-8184-DC82-A8FC-916C2FDB53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F369B0-0DE3-253B-F6A6-F74E7D637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74765-770C-43C4-AEC4-2A32F7838BA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6D321-A98D-96D4-E033-5FE8F94F53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8B6BE-332D-8FE9-A94E-099E9DCBD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089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2F5E5-4354-4724-9135-665726A27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897915-424E-1E4D-3C7A-02B4D89D9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FF989-2D5C-7F52-F637-4A7E2CE36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F0897E-A288-4F1E-BD11-CC0CE6F8EB6A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0C67A9-6C68-F52B-A5A0-4C3C2F3BA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F3DC7-D8AF-0279-DC85-4CEDCA23F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680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9D61D-2C0B-3BE1-801A-F4FE96363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746457"/>
            <a:ext cx="8627166" cy="43183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AF4AC-CC88-6397-00E6-2859E833DF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5F634E-6BA9-D6A6-DC03-DD0AAA22A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7C282F-C4EA-A36E-88FB-FA34D04D59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866DA-3E50-45DD-A01D-D94A3066D9A1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4BD5D2-DA4A-CBD3-56EE-64D9541ED4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3F23C6-BFA0-C635-F46A-225CA13A3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339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6CAAD-1CFB-0C5B-0846-B0E6AED3C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F0CE8-E0F8-5109-B2AE-B18F448B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8323E-6067-DD69-AED1-BCFBC23655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ED9DAE-92C2-D1DC-4807-55E06993EF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69579-E0D2-E624-4BF2-D7E8EB15931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C1CF233-072B-2078-0088-0E1E81806D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BFD0F-EEF3-4247-ABAA-2F15B14F3324}" type="datetime1">
              <a:rPr lang="en-US" smtClean="0"/>
              <a:t>9/29/2025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E2AF1D-B4FE-6C00-167D-AD2DC9345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6266BF-31A8-01D8-1DF5-34DC9EB06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451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6965D-FC92-0544-EE5C-ADA82F8943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746457"/>
            <a:ext cx="8627166" cy="43183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F66D1D-7260-3E8C-2051-FE0058946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0A60B8-CFFB-4004-A9C0-F0DA1EE38FBA}" type="datetime1">
              <a:rPr lang="en-US" smtClean="0"/>
              <a:t>9/29/2025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0753542-CDE9-EB0B-697A-3823E0D0E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A7A632B-00B0-C393-D78A-40E47E9ED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787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B0293C-0717-C01F-144F-9772A02DE2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7192D5-E56C-42AB-83A7-75A0064C88D0}" type="datetime1">
              <a:rPr lang="en-US" smtClean="0"/>
              <a:t>9/29/2025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AA845E-78CD-7673-4CD2-DBB67A16B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56FB3B-1804-FCB1-F802-02A8153BA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301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985D2C-C345-65AF-B193-C5A8652BD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E38988-63DB-72CC-BD75-1AAC6292F7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037B9-6AB1-416B-C9AA-4A8DD9F08F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F25311-5127-7CAE-6CB3-3A89CEB7BF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4025C0-C443-4FAA-8B5F-748D59569386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84306-EC1D-D465-727F-4796B8CE91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B8DFB1-5E0A-AB72-BD85-5C5D5178B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615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D54BFE-E976-5B61-CC77-475AD7F1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D20658-BA4F-95A6-C32C-D7506F89BF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075625-7F2A-747B-61C7-079D5ECB94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67C49-A163-35EE-B509-B71E32CAD9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FB0FA9-8884-4E34-BFA6-B8FDDB07D027}" type="datetime1">
              <a:rPr lang="en-US" smtClean="0"/>
              <a:t>9/29/2025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DFA1F1-7462-B07E-2DC8-97A86E3E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3BAE9-A77B-E99C-D71B-772CECD65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3495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B2E39F-7A48-EA13-2DD0-C9103126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746457"/>
            <a:ext cx="8627166" cy="431831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3B9E61-AAF6-4942-2333-EB1BEDF78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20869-43A0-C269-0DB9-D6E6BC2376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03BAE-4931-433D-8292-8A018EA84061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5E3129-1733-9C3A-F876-BC08DC1C2C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1A4BBA-0200-DB28-6463-DBABD2F1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967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2AC810E-C061-2F0E-C6FE-20D3EC7DC0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539FA-72EC-B54F-D6EF-73082EB594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1E31D5-801C-3E4E-52C5-A582E1A0F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CC9539-DC96-45F3-8B0D-9222417FEBC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A1B3AB-C1CD-8BAD-E5E5-CD595A9C1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638E76-4D4D-C2DB-EC47-966C2D673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33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B42AC6-A30E-5F4A-AF06-39FCEA8143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33670" y="2305877"/>
            <a:ext cx="10320130" cy="38710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26BA94-019B-C5F3-939A-A3FEA17966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978B8-13D6-4BFC-BED6-438788199997}" type="datetime1">
              <a:rPr lang="en-US" smtClean="0"/>
              <a:t>9/29/2025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A890DD-727D-424F-A4D6-0B96392F5D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ADBB09-515E-F079-0585-7C433B9D3C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E03CAE-3C85-9542-A861-E6B55C580346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205F6C1-6633-86D0-D88A-5EFB549299B9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17797" y="5499652"/>
            <a:ext cx="1703232" cy="117261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E190841-A231-1FAD-5EB5-B28DE112CAF3}"/>
              </a:ext>
            </a:extLst>
          </p:cNvPr>
          <p:cNvSpPr txBox="1"/>
          <p:nvPr userDrawn="1"/>
        </p:nvSpPr>
        <p:spPr>
          <a:xfrm>
            <a:off x="4397645" y="533059"/>
            <a:ext cx="28081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baseline="0" dirty="0">
                <a:latin typeface="Gill Sans MT" panose="020B0502020104020203" pitchFamily="34" charset="77"/>
              </a:rPr>
              <a:t>           </a:t>
            </a:r>
            <a:r>
              <a:rPr lang="en-GB" b="1" dirty="0">
                <a:latin typeface="Gill Sans MT" panose="020B0502020104020203" pitchFamily="34" charset="77"/>
              </a:rPr>
              <a:t>October 2-3, 2025</a:t>
            </a:r>
            <a:endParaRPr lang="en-US" b="1" dirty="0">
              <a:latin typeface="Gill Sans MT" panose="020B0502020104020203" pitchFamily="34" charset="7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714E9F-BF68-FF54-F25C-9EA7D3FC925C}"/>
              </a:ext>
            </a:extLst>
          </p:cNvPr>
          <p:cNvSpPr txBox="1"/>
          <p:nvPr userDrawn="1"/>
        </p:nvSpPr>
        <p:spPr>
          <a:xfrm>
            <a:off x="1336732" y="848519"/>
            <a:ext cx="9714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1" i="0" kern="1200" dirty="0">
                <a:solidFill>
                  <a:srgbClr val="C00000"/>
                </a:solidFill>
                <a:effectLst/>
                <a:latin typeface="+mn-lt"/>
                <a:ea typeface="+mn-ea"/>
                <a:cs typeface="+mn-cs"/>
              </a:rPr>
              <a:t>Harnessing Digital Innovation to Power Sustainable Local Solutions for Uganda’s Development Goals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CB3759F-CB02-4D19-A768-5257E8992509}"/>
              </a:ext>
            </a:extLst>
          </p:cNvPr>
          <p:cNvSpPr txBox="1"/>
          <p:nvPr userDrawn="1"/>
        </p:nvSpPr>
        <p:spPr>
          <a:xfrm>
            <a:off x="3313395" y="109855"/>
            <a:ext cx="69498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Gill Sans MT" panose="020B0502020104020203" pitchFamily="34" charset="77"/>
              </a:rPr>
              <a:t>The 9th National Conference on Communications (NCC-2025)</a:t>
            </a:r>
            <a:endParaRPr lang="en-US" b="1" dirty="0">
              <a:latin typeface="Gill Sans MT" panose="020B0502020104020203" pitchFamily="34" charset="77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677BD9-A8C0-8048-C2A0-8F5BE1937BB0}"/>
              </a:ext>
            </a:extLst>
          </p:cNvPr>
          <p:cNvCxnSpPr>
            <a:cxnSpLocks/>
          </p:cNvCxnSpPr>
          <p:nvPr userDrawn="1"/>
        </p:nvCxnSpPr>
        <p:spPr>
          <a:xfrm>
            <a:off x="1802296" y="1217851"/>
            <a:ext cx="9090991" cy="0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92782DC4-CB8A-06B6-7C60-CE40FDD1BF03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932779" y="3928"/>
            <a:ext cx="1220630" cy="1058670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49" y="109855"/>
            <a:ext cx="1938601" cy="792536"/>
          </a:xfrm>
          <a:prstGeom prst="rect">
            <a:avLst/>
          </a:prstGeom>
          <a:noFill/>
        </p:spPr>
      </p:pic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74852"/>
            <a:ext cx="837565" cy="76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85963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lang="en-US" sz="2000" b="1" kern="1200" dirty="0" smtClean="0">
          <a:solidFill>
            <a:srgbClr val="0B0DC2"/>
          </a:solidFill>
          <a:latin typeface="Gill Sans MT" panose="020B0502020104020203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7" Type="http://schemas.openxmlformats.org/officeDocument/2006/relationships/image" Target="../media/image20.jpe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77B137-D20F-9816-BA74-04808D3478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09440"/>
            <a:ext cx="9144000" cy="1729397"/>
          </a:xfrm>
        </p:spPr>
        <p:txBody>
          <a:bodyPr/>
          <a:lstStyle/>
          <a:p>
            <a:r>
              <a:rPr lang="en-GB" sz="3600" dirty="0" err="1">
                <a:solidFill>
                  <a:srgbClr val="C00000"/>
                </a:solidFill>
              </a:rPr>
              <a:t>FareFlow</a:t>
            </a:r>
            <a:r>
              <a:rPr lang="en-GB" sz="3600" dirty="0">
                <a:solidFill>
                  <a:srgbClr val="C00000"/>
                </a:solidFill>
              </a:rPr>
              <a:t>: An IoT and Cloud-Based Smart Bus Fare Collection System for Sustainable Urban Transport</a:t>
            </a:r>
            <a:endParaRPr lang="en-US" sz="1800" dirty="0">
              <a:solidFill>
                <a:srgbClr val="C0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1FEB94-AF09-86EF-3627-EE9194E7D6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183861"/>
            <a:ext cx="9144000" cy="1497433"/>
          </a:xfrm>
        </p:spPr>
        <p:txBody>
          <a:bodyPr>
            <a:normAutofit lnSpcReduction="10000"/>
          </a:bodyPr>
          <a:lstStyle/>
          <a:p>
            <a:r>
              <a:rPr lang="en-US" sz="2800" dirty="0">
                <a:latin typeface="Gill Sans MT" panose="020B0502020104020203" pitchFamily="34" charset="77"/>
              </a:rPr>
              <a:t>PUTSHU LUNGHE SAMUEL</a:t>
            </a:r>
          </a:p>
          <a:p>
            <a:endParaRPr lang="en-US" sz="2800" dirty="0">
              <a:latin typeface="Gill Sans MT" panose="020B0502020104020203" pitchFamily="34" charset="77"/>
            </a:endParaRPr>
          </a:p>
          <a:p>
            <a:r>
              <a:rPr lang="en-US" sz="2800" dirty="0">
                <a:latin typeface="Gill Sans MT" panose="020B0502020104020203" pitchFamily="34" charset="77"/>
              </a:rPr>
              <a:t>ISBAT UNIVERSITY</a:t>
            </a:r>
          </a:p>
        </p:txBody>
      </p:sp>
    </p:spTree>
    <p:extLst>
      <p:ext uri="{BB962C8B-B14F-4D97-AF65-F5344CB8AC3E}">
        <p14:creationId xmlns:p14="http://schemas.microsoft.com/office/powerpoint/2010/main" val="39495391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4AA04C-4FB2-028F-6ED6-7EA94A9E4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604942"/>
            <a:ext cx="8627166" cy="43183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 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4DAC6E-5A0D-C0C3-BB9C-41625A9EE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5935" y="2256450"/>
            <a:ext cx="10320130" cy="3871085"/>
          </a:xfrm>
        </p:spPr>
        <p:txBody>
          <a:bodyPr>
            <a:normAutofit/>
          </a:bodyPr>
          <a:lstStyle/>
          <a:p>
            <a:r>
              <a:rPr lang="en-US" sz="2400" dirty="0">
                <a:latin typeface="Gill Sans MT" panose="020B0502020104020203" pitchFamily="34" charset="77"/>
              </a:rPr>
              <a:t>Introduction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Research Motivation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Literature Review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Methodology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Models and Analysis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Results and Discussions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Conclusion</a:t>
            </a:r>
          </a:p>
          <a:p>
            <a:r>
              <a:rPr lang="en-US" sz="2400" dirty="0">
                <a:latin typeface="Gill Sans MT" panose="020B0502020104020203" pitchFamily="34" charset="77"/>
              </a:rPr>
              <a:t>Acknowledgements</a:t>
            </a:r>
          </a:p>
        </p:txBody>
      </p:sp>
    </p:spTree>
    <p:extLst>
      <p:ext uri="{BB962C8B-B14F-4D97-AF65-F5344CB8AC3E}">
        <p14:creationId xmlns:p14="http://schemas.microsoft.com/office/powerpoint/2010/main" val="3005976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23AA-8C91-1060-728D-7DE7E22E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572286"/>
            <a:ext cx="8627166" cy="43183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B264F-60CA-D8B5-789B-66B5F8718D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70" y="2305877"/>
            <a:ext cx="10320130" cy="3341161"/>
          </a:xfrm>
        </p:spPr>
        <p:txBody>
          <a:bodyPr>
            <a:noAutofit/>
          </a:bodyPr>
          <a:lstStyle/>
          <a:p>
            <a:r>
              <a:rPr lang="en-GB" sz="2200" b="1" dirty="0"/>
              <a:t>The Problem:</a:t>
            </a:r>
            <a:r>
              <a:rPr lang="en-GB" sz="2200" dirty="0"/>
              <a:t> Public transport in Uganda relies on manual, cash-based fare collection.</a:t>
            </a:r>
          </a:p>
          <a:p>
            <a:r>
              <a:rPr lang="en-GB" sz="2200" b="1" dirty="0"/>
              <a:t>Key Challenges:</a:t>
            </a:r>
            <a:endParaRPr lang="en-GB" sz="2200" dirty="0"/>
          </a:p>
          <a:p>
            <a:pPr lvl="1"/>
            <a:r>
              <a:rPr lang="en-GB" sz="2200" dirty="0"/>
              <a:t>Inefficiency &amp; Long Boarding Times</a:t>
            </a:r>
          </a:p>
          <a:p>
            <a:pPr lvl="1"/>
            <a:r>
              <a:rPr lang="en-GB" sz="2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Revenue Leakage &amp; Lack of Transparency</a:t>
            </a:r>
          </a:p>
          <a:p>
            <a:pPr lvl="1"/>
            <a:r>
              <a:rPr lang="en-GB" sz="2200" dirty="0"/>
              <a:t>Theft Risks &amp; Hygiene Concerns in few seen cases (e.g., COVID-19)</a:t>
            </a:r>
          </a:p>
          <a:p>
            <a:r>
              <a:rPr lang="en-GB" sz="2200" b="1" dirty="0"/>
              <a:t>The Opportunity:</a:t>
            </a:r>
            <a:r>
              <a:rPr lang="en-GB" sz="2200" dirty="0"/>
              <a:t> Advancements in IoT, Cloud Computing, and Contactless Payments.</a:t>
            </a:r>
          </a:p>
          <a:p>
            <a:r>
              <a:rPr lang="en-GB" sz="2200" b="1" dirty="0"/>
              <a:t>The Solution:</a:t>
            </a:r>
            <a:r>
              <a:rPr lang="en-GB" sz="2200" dirty="0"/>
              <a:t> This study proposes </a:t>
            </a:r>
            <a:r>
              <a:rPr lang="en-GB" sz="2200" b="1" dirty="0" err="1"/>
              <a:t>FareFlow</a:t>
            </a:r>
            <a:r>
              <a:rPr lang="en-GB" sz="2200" dirty="0"/>
              <a:t> – a smart, RFID-based fare system to modernize urban transport.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70915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261CF-C135-4478-D596-9A5371F0A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BC081-616F-FC8B-7F06-6063FD7C96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572286"/>
            <a:ext cx="8627166" cy="431831"/>
          </a:xfrm>
        </p:spPr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Research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AFC228-1FD0-3D06-9F44-B5E43BD2A7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2200" b="1" dirty="0"/>
              <a:t>Addressing Local Needs:</a:t>
            </a:r>
            <a:r>
              <a:rPr lang="en-GB" sz="2200" dirty="0"/>
              <a:t> To solve the specific inefficiencies plaguing Uganda's public transport sector.</a:t>
            </a:r>
          </a:p>
          <a:p>
            <a:r>
              <a:rPr lang="en-GB" sz="2200" b="1" dirty="0"/>
              <a:t>Sustainable Development:</a:t>
            </a:r>
            <a:r>
              <a:rPr lang="en-GB" sz="2200" dirty="0"/>
              <a:t> Contributing to the UN Sustainable Development Goals (SDGs):</a:t>
            </a:r>
          </a:p>
          <a:p>
            <a:pPr lvl="1"/>
            <a:r>
              <a:rPr lang="en-GB" sz="2200" b="1" dirty="0"/>
              <a:t>SDG 9:</a:t>
            </a:r>
            <a:r>
              <a:rPr lang="en-GB" sz="2200" dirty="0"/>
              <a:t> Industry, Innovation, and Infrastructure.</a:t>
            </a:r>
          </a:p>
          <a:p>
            <a:pPr lvl="1"/>
            <a:r>
              <a:rPr lang="en-GB" sz="2200" b="1" dirty="0"/>
              <a:t>SDG 11:</a:t>
            </a:r>
            <a:r>
              <a:rPr lang="en-GB" sz="2200" dirty="0"/>
              <a:t> Sustainable Cities and Communities.</a:t>
            </a:r>
          </a:p>
          <a:p>
            <a:r>
              <a:rPr lang="en-GB" sz="2200" b="1" dirty="0"/>
              <a:t>Technological Gap:</a:t>
            </a:r>
            <a:r>
              <a:rPr lang="en-GB" sz="2200" dirty="0"/>
              <a:t> While developed countries use smart fare systems, adoption in Africa is limited due to cost and lack of localized solutions.</a:t>
            </a:r>
          </a:p>
          <a:p>
            <a:r>
              <a:rPr lang="en-GB" sz="2200" b="1" dirty="0"/>
              <a:t>Goal:</a:t>
            </a:r>
            <a:r>
              <a:rPr lang="en-GB" sz="2200" dirty="0"/>
              <a:t> To design an </a:t>
            </a:r>
            <a:r>
              <a:rPr lang="en-GB" sz="2200" b="1" dirty="0"/>
              <a:t>affordable, efficient, and transparent</a:t>
            </a:r>
            <a:r>
              <a:rPr lang="en-GB" sz="2200" dirty="0"/>
              <a:t> system using cost-effective components.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563492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AF3C8C-5B39-1F78-E9A3-221F81056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4CDA0-D32E-0AD7-0663-722DB7B25C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572286"/>
            <a:ext cx="8627166" cy="431831"/>
          </a:xfrm>
        </p:spPr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Literature Review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8B328-D5A8-6502-D0C2-965020316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200" b="1" dirty="0"/>
              <a:t>RFID in Transport:</a:t>
            </a:r>
            <a:r>
              <a:rPr lang="en-GB" sz="2200" dirty="0"/>
              <a:t> </a:t>
            </a:r>
            <a:r>
              <a:rPr lang="en-GB" sz="2200" dirty="0" err="1"/>
              <a:t>Oberli</a:t>
            </a:r>
            <a:r>
              <a:rPr lang="en-GB" sz="2200" dirty="0"/>
              <a:t> et al. (2010) showed UHF RFID's potential for real-time passenger recognition in public transit.</a:t>
            </a:r>
          </a:p>
          <a:p>
            <a:r>
              <a:rPr lang="en-GB" sz="2200" b="1" dirty="0"/>
              <a:t>IoT &amp; Cloud Integration:</a:t>
            </a:r>
            <a:r>
              <a:rPr lang="en-GB" sz="2200" dirty="0"/>
              <a:t> Al-</a:t>
            </a:r>
            <a:r>
              <a:rPr lang="en-GB" sz="2200" dirty="0" err="1"/>
              <a:t>Kababji</a:t>
            </a:r>
            <a:r>
              <a:rPr lang="en-GB" sz="2200" dirty="0"/>
              <a:t> et al. (2019) demonstrated reliable real-time data handling using Firebase, applicable to transport.</a:t>
            </a:r>
          </a:p>
          <a:p>
            <a:r>
              <a:rPr lang="en-GB" sz="2200" b="1" dirty="0"/>
              <a:t>Open-Source &amp; Low-Cost Tools:</a:t>
            </a:r>
            <a:r>
              <a:rPr lang="en-GB" sz="2200" dirty="0"/>
              <a:t> Studies highlight the role of platforms like </a:t>
            </a:r>
            <a:r>
              <a:rPr lang="en-GB" sz="2200" b="1" dirty="0"/>
              <a:t>Firebase, Express.js, React, and </a:t>
            </a:r>
            <a:r>
              <a:rPr lang="en-GB" sz="2200" b="1" dirty="0" err="1"/>
              <a:t>NodeMCU</a:t>
            </a:r>
            <a:r>
              <a:rPr lang="en-GB" sz="2200" dirty="0"/>
              <a:t> in creating scalable, affordable solutions.</a:t>
            </a:r>
          </a:p>
          <a:p>
            <a:r>
              <a:rPr lang="en-GB" sz="2200" b="1" dirty="0"/>
              <a:t>Research Gap:</a:t>
            </a:r>
            <a:r>
              <a:rPr lang="en-GB" sz="2200" dirty="0"/>
              <a:t> These technologies are underutilized in fare collection systems tailored for developing regions like Uganda.</a:t>
            </a:r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41044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16123-21E9-B390-2324-92E6F8EC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6C05BD-2FD4-CD27-5727-9A16A532F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417" y="1483777"/>
            <a:ext cx="8627166" cy="431831"/>
          </a:xfrm>
        </p:spPr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Methodology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04CF0C8-8422-0E36-D58C-58229062AABC}"/>
              </a:ext>
            </a:extLst>
          </p:cNvPr>
          <p:cNvGrpSpPr/>
          <p:nvPr/>
        </p:nvGrpSpPr>
        <p:grpSpPr>
          <a:xfrm>
            <a:off x="2130061" y="2690396"/>
            <a:ext cx="7931878" cy="2861601"/>
            <a:chOff x="0" y="-131873"/>
            <a:chExt cx="7133672" cy="2529561"/>
          </a:xfrm>
        </p:grpSpPr>
        <p:sp>
          <p:nvSpPr>
            <p:cNvPr id="7" name="Text Box 12">
              <a:extLst>
                <a:ext uri="{FF2B5EF4-FFF2-40B4-BE49-F238E27FC236}">
                  <a16:creationId xmlns:a16="http://schemas.microsoft.com/office/drawing/2014/main" id="{5401BE98-CAA0-56E6-3585-A1A3E8601AF3}"/>
                </a:ext>
              </a:extLst>
            </p:cNvPr>
            <p:cNvSpPr txBox="1"/>
            <p:nvPr/>
          </p:nvSpPr>
          <p:spPr>
            <a:xfrm>
              <a:off x="661614" y="683812"/>
              <a:ext cx="1311965" cy="341906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200" b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INPUT LAYER</a:t>
              </a:r>
              <a:endParaRPr sz="120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8" name="Text Box 12">
              <a:extLst>
                <a:ext uri="{FF2B5EF4-FFF2-40B4-BE49-F238E27FC236}">
                  <a16:creationId xmlns:a16="http://schemas.microsoft.com/office/drawing/2014/main" id="{D92EC07E-DEA2-F830-4941-9956D8CC1739}"/>
                </a:ext>
              </a:extLst>
            </p:cNvPr>
            <p:cNvSpPr txBox="1"/>
            <p:nvPr/>
          </p:nvSpPr>
          <p:spPr>
            <a:xfrm>
              <a:off x="2601733" y="683812"/>
              <a:ext cx="1820849" cy="341906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PROCESSING LAYER</a:t>
              </a:r>
              <a:endParaRPr sz="12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9" name="Text Box 12">
              <a:extLst>
                <a:ext uri="{FF2B5EF4-FFF2-40B4-BE49-F238E27FC236}">
                  <a16:creationId xmlns:a16="http://schemas.microsoft.com/office/drawing/2014/main" id="{E637E64F-083D-E9A7-2468-1854785EE25D}"/>
                </a:ext>
              </a:extLst>
            </p:cNvPr>
            <p:cNvSpPr txBox="1"/>
            <p:nvPr/>
          </p:nvSpPr>
          <p:spPr>
            <a:xfrm>
              <a:off x="5026880" y="667909"/>
              <a:ext cx="1431179" cy="341906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200" b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OUTPUT LAYER</a:t>
              </a:r>
              <a:endParaRPr sz="120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120216C-4C50-2B48-6515-093ECE05D2AB}"/>
                </a:ext>
              </a:extLst>
            </p:cNvPr>
            <p:cNvCxnSpPr/>
            <p:nvPr/>
          </p:nvCxnSpPr>
          <p:spPr>
            <a:xfrm>
              <a:off x="1981531" y="869674"/>
              <a:ext cx="620202" cy="0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EA6ABD23-F011-495C-1A08-BB6270FC51AA}"/>
                </a:ext>
              </a:extLst>
            </p:cNvPr>
            <p:cNvCxnSpPr/>
            <p:nvPr/>
          </p:nvCxnSpPr>
          <p:spPr>
            <a:xfrm>
              <a:off x="4422581" y="869674"/>
              <a:ext cx="620202" cy="0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1796E86-5B4C-726E-654C-9BD21C3F4381}"/>
                </a:ext>
              </a:extLst>
            </p:cNvPr>
            <p:cNvCxnSpPr/>
            <p:nvPr/>
          </p:nvCxnSpPr>
          <p:spPr>
            <a:xfrm rot="16200000">
              <a:off x="4343897" y="547646"/>
              <a:ext cx="620202" cy="0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92F62E6-1BED-4884-BE97-92C496A39ADB}"/>
                </a:ext>
              </a:extLst>
            </p:cNvPr>
            <p:cNvCxnSpPr/>
            <p:nvPr/>
          </p:nvCxnSpPr>
          <p:spPr>
            <a:xfrm rot="5400000" flipV="1">
              <a:off x="-277247" y="547867"/>
              <a:ext cx="620202" cy="0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3E9B8DC-59F7-A648-C2CB-6A84DF7258E4}"/>
                </a:ext>
              </a:extLst>
            </p:cNvPr>
            <p:cNvCxnSpPr/>
            <p:nvPr/>
          </p:nvCxnSpPr>
          <p:spPr>
            <a:xfrm>
              <a:off x="41413" y="853771"/>
              <a:ext cx="620202" cy="0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84E33577-4559-0B1A-D5A7-D1B21293A3C5}"/>
                </a:ext>
              </a:extLst>
            </p:cNvPr>
            <p:cNvCxnSpPr/>
            <p:nvPr/>
          </p:nvCxnSpPr>
          <p:spPr>
            <a:xfrm flipH="1">
              <a:off x="0" y="241521"/>
              <a:ext cx="4635611" cy="11485"/>
            </a:xfrm>
            <a:prstGeom prst="straightConnector1">
              <a:avLst/>
            </a:prstGeom>
            <a:ln w="57150">
              <a:solidFill>
                <a:schemeClr val="tx1">
                  <a:lumMod val="95000"/>
                  <a:lumOff val="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 Box 12">
              <a:extLst>
                <a:ext uri="{FF2B5EF4-FFF2-40B4-BE49-F238E27FC236}">
                  <a16:creationId xmlns:a16="http://schemas.microsoft.com/office/drawing/2014/main" id="{B5B4DAC2-2879-48E7-59BA-75057AF4D1AC}"/>
                </a:ext>
              </a:extLst>
            </p:cNvPr>
            <p:cNvSpPr txBox="1"/>
            <p:nvPr/>
          </p:nvSpPr>
          <p:spPr>
            <a:xfrm>
              <a:off x="0" y="1144597"/>
              <a:ext cx="2283375" cy="1230035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27051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RFID Reader (RC522)</a:t>
              </a:r>
              <a:r>
                <a:rPr sz="12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, 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27051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sz="1200" b="1" dirty="0" err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NodeMCU</a:t>
              </a:r>
              <a:r>
                <a:rPr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 ESP8266</a:t>
              </a:r>
              <a:r>
                <a:rPr sz="12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, 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27051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GPS Module</a:t>
              </a:r>
              <a:r>
                <a:rPr sz="12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, 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27051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I2C LCD, LEDs, Buzzer</a:t>
              </a:r>
              <a:r>
                <a:rPr sz="1200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 </a:t>
              </a:r>
              <a:r>
                <a:rPr lang="en-US" sz="14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 </a:t>
              </a:r>
              <a:endParaRPr sz="1400"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7" name="Text Box 12">
              <a:extLst>
                <a:ext uri="{FF2B5EF4-FFF2-40B4-BE49-F238E27FC236}">
                  <a16:creationId xmlns:a16="http://schemas.microsoft.com/office/drawing/2014/main" id="{3FAEDE8B-968C-0E87-488E-BD2572CFEEC0}"/>
                </a:ext>
              </a:extLst>
            </p:cNvPr>
            <p:cNvSpPr txBox="1"/>
            <p:nvPr/>
          </p:nvSpPr>
          <p:spPr>
            <a:xfrm>
              <a:off x="2490413" y="1120151"/>
              <a:ext cx="2090889" cy="1277537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342900" lvl="0" indent="-342900" algn="l">
                <a:lnSpc>
                  <a:spcPct val="107000"/>
                </a:lnSpc>
                <a:spcAft>
                  <a:spcPts val="800"/>
                </a:spcAft>
                <a:buFont typeface="Courier New" panose="02070309020205020404" pitchFamily="49" charset="0"/>
                <a:buChar char="o"/>
              </a:pPr>
              <a:r>
                <a:rPr lang="en-US" sz="1200" b="1" dirty="0" err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ExpressJS</a:t>
              </a: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 Backend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342900" lvl="0" indent="-342900" algn="l">
                <a:lnSpc>
                  <a:spcPct val="107000"/>
                </a:lnSpc>
                <a:spcAft>
                  <a:spcPts val="800"/>
                </a:spcAft>
                <a:buFont typeface="Courier New" panose="02070309020205020404" pitchFamily="49" charset="0"/>
                <a:buChar char="o"/>
              </a:pP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Firebase </a:t>
              </a:r>
              <a:r>
                <a:rPr lang="en-US" sz="1200" b="1" dirty="0" err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Firestore</a:t>
              </a: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 and Real-time Database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342900" lvl="0" indent="-342900" algn="l">
                <a:lnSpc>
                  <a:spcPct val="107000"/>
                </a:lnSpc>
                <a:spcAft>
                  <a:spcPts val="800"/>
                </a:spcAft>
                <a:buFont typeface="Courier New" panose="02070309020205020404" pitchFamily="49" charset="0"/>
                <a:buChar char="o"/>
              </a:pPr>
              <a:r>
                <a:rPr lang="en-US" sz="1200" b="1" dirty="0" err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Firabase</a:t>
              </a: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 Authentication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8" name="Text Box 12">
              <a:extLst>
                <a:ext uri="{FF2B5EF4-FFF2-40B4-BE49-F238E27FC236}">
                  <a16:creationId xmlns:a16="http://schemas.microsoft.com/office/drawing/2014/main" id="{722FC33C-0057-5136-C1F9-7E896B82616A}"/>
                </a:ext>
              </a:extLst>
            </p:cNvPr>
            <p:cNvSpPr txBox="1"/>
            <p:nvPr/>
          </p:nvSpPr>
          <p:spPr>
            <a:xfrm>
              <a:off x="5042783" y="1129083"/>
              <a:ext cx="2090889" cy="1245548"/>
            </a:xfrm>
            <a:prstGeom prst="rect">
              <a:avLst/>
            </a:prstGeom>
            <a:solidFill>
              <a:schemeClr val="lt1"/>
            </a:solidFill>
            <a:ln w="6350">
              <a:solidFill>
                <a:prstClr val="black"/>
              </a:solidFill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22860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SMS and Email Notifications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  <a:p>
              <a:pPr marL="228600" indent="-228600" algn="l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en-US" sz="1200" b="1" dirty="0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Web Interfaces Updates</a:t>
              </a:r>
              <a:endParaRPr dirty="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19" name="Text Box 12">
              <a:extLst>
                <a:ext uri="{FF2B5EF4-FFF2-40B4-BE49-F238E27FC236}">
                  <a16:creationId xmlns:a16="http://schemas.microsoft.com/office/drawing/2014/main" id="{A4D5319C-A84D-F057-F529-40F3F6B174D8}"/>
                </a:ext>
              </a:extLst>
            </p:cNvPr>
            <p:cNvSpPr txBox="1"/>
            <p:nvPr/>
          </p:nvSpPr>
          <p:spPr>
            <a:xfrm>
              <a:off x="1828493" y="464598"/>
              <a:ext cx="914341" cy="32663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000" b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MQTT</a:t>
              </a:r>
              <a:endParaRPr sz="120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0" name="Text Box 12">
              <a:extLst>
                <a:ext uri="{FF2B5EF4-FFF2-40B4-BE49-F238E27FC236}">
                  <a16:creationId xmlns:a16="http://schemas.microsoft.com/office/drawing/2014/main" id="{46815708-9107-723D-B87D-C0CDDD512341}"/>
                </a:ext>
              </a:extLst>
            </p:cNvPr>
            <p:cNvSpPr txBox="1"/>
            <p:nvPr/>
          </p:nvSpPr>
          <p:spPr>
            <a:xfrm>
              <a:off x="1925872" y="-131873"/>
              <a:ext cx="909157" cy="27665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000" b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MQTT</a:t>
              </a:r>
              <a:endParaRPr sz="120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  <p:sp>
          <p:nvSpPr>
            <p:cNvPr id="21" name="Text Box 12">
              <a:extLst>
                <a:ext uri="{FF2B5EF4-FFF2-40B4-BE49-F238E27FC236}">
                  <a16:creationId xmlns:a16="http://schemas.microsoft.com/office/drawing/2014/main" id="{3322D592-364D-1ED6-F432-13890E1AAD04}"/>
                </a:ext>
              </a:extLst>
            </p:cNvPr>
            <p:cNvSpPr txBox="1"/>
            <p:nvPr/>
          </p:nvSpPr>
          <p:spPr>
            <a:xfrm>
              <a:off x="4505216" y="954335"/>
              <a:ext cx="675640" cy="316439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buNone/>
              </a:pPr>
              <a:r>
                <a:rPr lang="en-US" sz="1000" b="1">
                  <a:effectLst/>
                  <a:latin typeface="Times New Roman" panose="02020603050405020304" pitchFamily="18" charset="0"/>
                  <a:ea typeface="SimSun" panose="02010600030101010101" pitchFamily="2" charset="-122"/>
                </a:rPr>
                <a:t>HTTPS</a:t>
              </a:r>
              <a:endParaRPr sz="1200">
                <a:effectLst/>
                <a:latin typeface="Times New Roman" panose="02020603050405020304" pitchFamily="18" charset="0"/>
                <a:ea typeface="SimSun" panose="02010600030101010101" pitchFamily="2" charset="-122"/>
              </a:endParaRPr>
            </a:p>
          </p:txBody>
        </p:sp>
      </p:grp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9671FB1C-F79E-4481-859F-F894343880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567" y="2087086"/>
            <a:ext cx="2538867" cy="43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System Architecture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4262743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3BBD1-A39B-B921-E932-7D7B2FCD5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82ABA-FF18-2623-62F6-B9AA60641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417" y="1483777"/>
            <a:ext cx="8627166" cy="431831"/>
          </a:xfrm>
        </p:spPr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Methodology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5BE1FD0E-F72B-2B65-510E-FDEC289465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566" y="1970516"/>
            <a:ext cx="2538867" cy="43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Hardware Design</a:t>
            </a:r>
            <a:endParaRPr lang="en-US" sz="2200" dirty="0"/>
          </a:p>
        </p:txBody>
      </p:sp>
      <p:pic>
        <p:nvPicPr>
          <p:cNvPr id="1026" name="Picture 35">
            <a:extLst>
              <a:ext uri="{FF2B5EF4-FFF2-40B4-BE49-F238E27FC236}">
                <a16:creationId xmlns:a16="http://schemas.microsoft.com/office/drawing/2014/main" id="{2F65AF58-05B5-4FDE-8726-E714383C4E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45670" y="2544228"/>
            <a:ext cx="2214287" cy="29489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3">
            <a:extLst>
              <a:ext uri="{FF2B5EF4-FFF2-40B4-BE49-F238E27FC236}">
                <a16:creationId xmlns:a16="http://schemas.microsoft.com/office/drawing/2014/main" id="{68F066F9-3EB3-1966-57A7-FEBBB94DD3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1B017FE-60B3-29E7-F521-E391F343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-914400" y="580947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52D5611-AA17-8437-1CEC-D6334E2512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17" y="2508111"/>
            <a:ext cx="3275965" cy="246697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CBF5A3E-241F-53D1-719C-E3290DA55A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3362" y="2544228"/>
            <a:ext cx="3005277" cy="3402769"/>
          </a:xfrm>
          <a:prstGeom prst="rect">
            <a:avLst/>
          </a:prstGeom>
        </p:spPr>
      </p:pic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20D58825-C19B-7915-C635-F5F914FFC9A4}"/>
              </a:ext>
            </a:extLst>
          </p:cNvPr>
          <p:cNvSpPr txBox="1">
            <a:spLocks/>
          </p:cNvSpPr>
          <p:nvPr/>
        </p:nvSpPr>
        <p:spPr>
          <a:xfrm>
            <a:off x="1871542" y="5351673"/>
            <a:ext cx="986904" cy="431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b="1" dirty="0"/>
              <a:t>Circuit</a:t>
            </a:r>
            <a:endParaRPr lang="en-US" sz="220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D8E37C4C-9385-66CF-2BCB-1F8EB458EB42}"/>
              </a:ext>
            </a:extLst>
          </p:cNvPr>
          <p:cNvSpPr txBox="1">
            <a:spLocks/>
          </p:cNvSpPr>
          <p:nvPr/>
        </p:nvSpPr>
        <p:spPr>
          <a:xfrm>
            <a:off x="5008606" y="6001905"/>
            <a:ext cx="2174788" cy="43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b="1" dirty="0"/>
              <a:t>3D Design Model</a:t>
            </a:r>
            <a:endParaRPr lang="en-US" sz="2200" dirty="0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3CC0EA15-8141-C167-A65C-C679388888DE}"/>
              </a:ext>
            </a:extLst>
          </p:cNvPr>
          <p:cNvSpPr txBox="1">
            <a:spLocks/>
          </p:cNvSpPr>
          <p:nvPr/>
        </p:nvSpPr>
        <p:spPr>
          <a:xfrm>
            <a:off x="8145670" y="5633051"/>
            <a:ext cx="2174788" cy="43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GB" sz="2200" b="1" dirty="0"/>
              <a:t>Actual Made Prototype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7881858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3203E-E27D-8337-0D0F-1850AB5AA4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617DB-C0EB-ED6D-9F4D-4CC5E69CA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2417" y="1288079"/>
            <a:ext cx="8627166" cy="43183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Models and Analysis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1909B-57B1-080E-9F33-8208521EF5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69235" y="1836972"/>
                <a:ext cx="7375014" cy="3871085"/>
              </a:xfrm>
            </p:spPr>
            <p:txBody>
              <a:bodyPr>
                <a:noAutofit/>
              </a:bodyPr>
              <a:lstStyle/>
              <a:p>
                <a:r>
                  <a:rPr lang="en-GB" sz="1800" b="1" dirty="0"/>
                  <a:t>System Workflow:</a:t>
                </a:r>
                <a:r>
                  <a:rPr lang="en-GB" sz="1800" dirty="0"/>
                  <a:t> </a:t>
                </a:r>
              </a:p>
              <a:p>
                <a:pPr lvl="1"/>
                <a:r>
                  <a:rPr lang="en-GB" sz="1800" dirty="0"/>
                  <a:t>Passenger taps RFID card.</a:t>
                </a:r>
              </a:p>
              <a:p>
                <a:pPr lvl="1"/>
                <a:r>
                  <a:rPr lang="en-GB" sz="1800" dirty="0"/>
                  <a:t>UID sent to backend for verification.</a:t>
                </a:r>
              </a:p>
              <a:p>
                <a:pPr lvl="1"/>
                <a:r>
                  <a:rPr lang="en-GB" sz="1800" dirty="0"/>
                  <a:t>Balance Check (Minimum 1000 UGX).</a:t>
                </a:r>
              </a:p>
              <a:p>
                <a:pPr lvl="1"/>
                <a:r>
                  <a:rPr lang="en-GB" sz="1800" b="1" dirty="0"/>
                  <a:t>Fare Calculation:</a:t>
                </a:r>
                <a:endParaRPr lang="en-GB" sz="1800" dirty="0"/>
              </a:p>
              <a:p>
                <a:pPr lvl="2"/>
                <a:r>
                  <a:rPr lang="en-GB" sz="1800" b="1" dirty="0"/>
                  <a:t>Fixed Fare:</a:t>
                </a:r>
                <a:r>
                  <a:rPr lang="en-GB" sz="1800" dirty="0"/>
                  <a:t> Flat rate deduction.</a:t>
                </a:r>
              </a:p>
              <a:p>
                <a:pPr lvl="2"/>
                <a:r>
                  <a:rPr lang="en-GB" sz="1800" b="1" dirty="0"/>
                  <a:t>Dynamic Fare:</a:t>
                </a:r>
                <a:r>
                  <a:rPr lang="en-GB" sz="1800" dirty="0"/>
                  <a:t> Uses entry and exit GPS coordinates.</a:t>
                </a:r>
              </a:p>
              <a:p>
                <a:r>
                  <a:rPr lang="en-GB" sz="1800" b="1" dirty="0"/>
                  <a:t>Dynamic Fare Model:</a:t>
                </a:r>
                <a:endParaRPr lang="en-GB" sz="1800" dirty="0"/>
              </a:p>
              <a:p>
                <a:pPr lvl="1"/>
                <a:r>
                  <a:rPr lang="en-GB" sz="1800" b="1" dirty="0"/>
                  <a:t>Euclidean Distance Formula:</a:t>
                </a:r>
                <a:br>
                  <a:rPr lang="en-GB" sz="1800" dirty="0"/>
                </a:br>
                <a14:m>
                  <m:oMath xmlns:m="http://schemas.openxmlformats.org/officeDocument/2006/math"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GB" sz="1800" i="1" dirty="0" smtClean="0">
                        <a:latin typeface="Cambria Math" panose="02040503050406030204" pitchFamily="18" charset="0"/>
                      </a:rPr>
                      <m:t> = </m:t>
                    </m:r>
                    <m:rad>
                      <m:radPr>
                        <m:degHide m:val="on"/>
                        <m:ctrlPr>
                          <a:rPr lang="en-GB" sz="18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2)² + (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GB" sz="1800" i="1" dirty="0">
                            <a:latin typeface="Cambria Math" panose="02040503050406030204" pitchFamily="18" charset="0"/>
                          </a:rPr>
                          <m:t>2)²</m:t>
                        </m:r>
                        <m:r>
                          <m:rPr>
                            <m:nor/>
                          </m:rPr>
                          <a:rPr lang="en-GB" sz="1800" dirty="0"/>
                          <m:t> </m:t>
                        </m:r>
                      </m:e>
                    </m:rad>
                  </m:oMath>
                </a14:m>
                <a:endParaRPr lang="en-GB" sz="1800" b="1" dirty="0"/>
              </a:p>
              <a:p>
                <a:pPr lvl="1"/>
                <a:r>
                  <a:rPr lang="en-GB" sz="1800" b="1" dirty="0"/>
                  <a:t>Fare Calculation:</a:t>
                </a: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𝐹𝑎𝑟𝑒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𝐷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𝑘𝑚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) × 500 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𝑈𝐺𝑋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1800" i="1" dirty="0">
                          <a:latin typeface="Cambria Math" panose="02040503050406030204" pitchFamily="18" charset="0"/>
                        </a:rPr>
                        <m:t>𝑘𝑚</m:t>
                      </m:r>
                    </m:oMath>
                  </m:oMathPara>
                </a14:m>
                <a:br>
                  <a:rPr lang="en-GB" sz="1800" dirty="0"/>
                </a:br>
                <a14:m/>
              </a:p>
              <a:p>
                <a:r>
                  <a:rPr lang="en-GB" sz="1800" b="1" dirty="0"/>
                  <a:t>Analysis:</a:t>
                </a:r>
                <a:r>
                  <a:rPr lang="en-GB" sz="1800" dirty="0"/>
                  <a:t> This model ensures fair, distance-based pricing and transparent calculations.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061909B-57B1-080E-9F33-8208521EF5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69235" y="1836972"/>
                <a:ext cx="7375014" cy="3871085"/>
              </a:xfrm>
              <a:blipFill>
                <a:blip r:embed="rId2"/>
                <a:stretch>
                  <a:fillRect l="-579" t="-1417" b="-20472"/>
                </a:stretch>
              </a:blipFill>
            </p:spPr>
            <p:txBody>
              <a:bodyPr/>
              <a:lstStyle/>
              <a:p>
                <a:r>
                  <a:rPr lang="LID4096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9C8DE1F5-7A8F-09EE-7875-38B255AF3C9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249" y="1503995"/>
            <a:ext cx="4147751" cy="5369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0784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75D1D8-9639-C2D8-6F29-AA8BFEB49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48998-6D81-FE06-1C95-71EE90336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346594"/>
            <a:ext cx="8627166" cy="431831"/>
          </a:xfrm>
        </p:spPr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Results and Discussions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A6F508A-B8BF-93A0-645D-68BB0750C6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2713804"/>
              </p:ext>
            </p:extLst>
          </p:nvPr>
        </p:nvGraphicFramePr>
        <p:xfrm>
          <a:off x="326383" y="2267631"/>
          <a:ext cx="5157272" cy="3341754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363748">
                  <a:extLst>
                    <a:ext uri="{9D8B030D-6E8A-4147-A177-3AD203B41FA5}">
                      <a16:colId xmlns:a16="http://schemas.microsoft.com/office/drawing/2014/main" val="254769225"/>
                    </a:ext>
                  </a:extLst>
                </a:gridCol>
                <a:gridCol w="2755557">
                  <a:extLst>
                    <a:ext uri="{9D8B030D-6E8A-4147-A177-3AD203B41FA5}">
                      <a16:colId xmlns:a16="http://schemas.microsoft.com/office/drawing/2014/main" val="712727342"/>
                    </a:ext>
                  </a:extLst>
                </a:gridCol>
                <a:gridCol w="1037967">
                  <a:extLst>
                    <a:ext uri="{9D8B030D-6E8A-4147-A177-3AD203B41FA5}">
                      <a16:colId xmlns:a16="http://schemas.microsoft.com/office/drawing/2014/main" val="17614175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GB" sz="1400" b="1">
                          <a:effectLst/>
                        </a:rPr>
                        <a:t>Test Case</a:t>
                      </a:r>
                      <a:endParaRPr lang="en-GB" sz="1400" b="1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GB" sz="1400" b="1" dirty="0">
                          <a:effectLst/>
                        </a:rPr>
                        <a:t>Expected Result</a:t>
                      </a:r>
                      <a:endParaRPr lang="en-GB" sz="14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buNone/>
                      </a:pPr>
                      <a:r>
                        <a:rPr lang="en-GB" sz="1400" b="1" dirty="0">
                          <a:effectLst/>
                        </a:rPr>
                        <a:t>Outcome</a:t>
                      </a:r>
                      <a:endParaRPr lang="en-GB" sz="1400" b="1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44039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Valid UID with sufficient balance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Fare deducted, LCD success message, SMS/email sent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Passed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39181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Valid UID with insufficient balance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>
                          <a:effectLst/>
                        </a:rPr>
                        <a:t>Transaction rejected, LCD error message, alert sent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>
                          <a:effectLst/>
                        </a:rPr>
                        <a:t>Passed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451336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Fixed fare route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Flat rate deducted, confirmation sent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>
                          <a:effectLst/>
                        </a:rPr>
                        <a:t>Passed</a:t>
                      </a:r>
                      <a:endParaRPr lang="en-GB" sz="140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3079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Dynamic route (entry + exit taps)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Distance-based fare calculated and deducted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Passed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461883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Inactive bus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No transactions processed, error displayed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15000"/>
                        </a:lnSpc>
                        <a:buNone/>
                      </a:pPr>
                      <a:r>
                        <a:rPr lang="en-GB" sz="1400" dirty="0">
                          <a:effectLst/>
                        </a:rPr>
                        <a:t>Passed</a:t>
                      </a:r>
                      <a:endParaRPr lang="en-GB" sz="1400" dirty="0">
                        <a:effectLst/>
                        <a:latin typeface="Times New Roman" panose="02020603050405020304" pitchFamily="18" charset="0"/>
                        <a:ea typeface="SimSun" panose="02010600030101010101" pitchFamily="2" charset="-122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1988036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DFB9D202-D251-E0AB-1E50-98F9CCFD30F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0823" y="1934549"/>
            <a:ext cx="1979414" cy="263881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5F198A-B7EE-C2CD-04B7-4DB83C16A9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00141" y="1934720"/>
            <a:ext cx="1978855" cy="26388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D62BE00-D32B-7CD4-B2D9-D5422D263AA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5482" y="1934720"/>
            <a:ext cx="1978855" cy="2638645"/>
          </a:xfrm>
          <a:prstGeom prst="rect">
            <a:avLst/>
          </a:prstGeom>
        </p:spPr>
      </p:pic>
      <p:pic>
        <p:nvPicPr>
          <p:cNvPr id="2050" name="Picture 37">
            <a:extLst>
              <a:ext uri="{FF2B5EF4-FFF2-40B4-BE49-F238E27FC236}">
                <a16:creationId xmlns:a16="http://schemas.microsoft.com/office/drawing/2014/main" id="{88D3539B-3626-2CC5-4529-B67709B2B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2255" y="4673958"/>
            <a:ext cx="2581275" cy="1933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49" name="Picture 41">
            <a:extLst>
              <a:ext uri="{FF2B5EF4-FFF2-40B4-BE49-F238E27FC236}">
                <a16:creationId xmlns:a16="http://schemas.microsoft.com/office/drawing/2014/main" id="{24B82C18-9CCC-94D8-26A5-4EAED44316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5423" y="4664433"/>
            <a:ext cx="2590800" cy="1943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3">
            <a:extLst>
              <a:ext uri="{FF2B5EF4-FFF2-40B4-BE49-F238E27FC236}">
                <a16:creationId xmlns:a16="http://schemas.microsoft.com/office/drawing/2014/main" id="{850A00C4-67A4-2376-7F96-9AF74BF694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21825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496C7BD-A22C-43D4-3BB2-D6E776A735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65164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7AB5D2F-ADA3-F1C7-EFAB-63D4CD172D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6383" y="1750758"/>
            <a:ext cx="3061931" cy="431832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GB" sz="2200" b="1" dirty="0"/>
              <a:t>Functionalities Tested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7293585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9516C-BC75-20A4-A618-D910C8442A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358CE-CC34-8B95-4B9B-885F7A562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346594"/>
            <a:ext cx="8627166" cy="431831"/>
          </a:xfrm>
        </p:spPr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Results and Discussions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1CF6C325-2144-6884-3333-5AD63F3E0B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21825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F3CF120-A74B-4268-F8B7-31606C8BAA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65164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AD9AE4-73E9-F49D-2190-8CF4836C1999}"/>
              </a:ext>
            </a:extLst>
          </p:cNvPr>
          <p:cNvGrpSpPr/>
          <p:nvPr/>
        </p:nvGrpSpPr>
        <p:grpSpPr>
          <a:xfrm>
            <a:off x="959541" y="2222651"/>
            <a:ext cx="4698623" cy="3410585"/>
            <a:chOff x="350728" y="1755959"/>
            <a:chExt cx="4698623" cy="341058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8DC4CAD-BDF0-EB79-6452-3D237D7A32D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29161" y="1787709"/>
              <a:ext cx="1520190" cy="337883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63E0F22B-6EDD-DC86-21D0-A779F1FC5B6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45342" y="1779454"/>
              <a:ext cx="1524000" cy="3387090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4E0ACAF-2D2F-1D94-D603-D2CAC290E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0728" y="1755959"/>
              <a:ext cx="1534795" cy="3410585"/>
            </a:xfrm>
            <a:prstGeom prst="rect">
              <a:avLst/>
            </a:prstGeom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BE8E3426-C9D2-1508-4D3A-DC9EE858ED38}"/>
              </a:ext>
            </a:extLst>
          </p:cNvPr>
          <p:cNvGrpSpPr/>
          <p:nvPr/>
        </p:nvGrpSpPr>
        <p:grpSpPr>
          <a:xfrm>
            <a:off x="7086600" y="2222651"/>
            <a:ext cx="4754701" cy="3410585"/>
            <a:chOff x="7327203" y="1966144"/>
            <a:chExt cx="4514069" cy="3200400"/>
          </a:xfrm>
        </p:grpSpPr>
        <p:pic>
          <p:nvPicPr>
            <p:cNvPr id="3075" name="Picture 34">
              <a:extLst>
                <a:ext uri="{FF2B5EF4-FFF2-40B4-BE49-F238E27FC236}">
                  <a16:creationId xmlns:a16="http://schemas.microsoft.com/office/drawing/2014/main" id="{E14F3D6A-3F18-C3EB-911C-3170F65641F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27203" y="1966144"/>
              <a:ext cx="1438275" cy="31908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4" name="Picture 35">
              <a:extLst>
                <a:ext uri="{FF2B5EF4-FFF2-40B4-BE49-F238E27FC236}">
                  <a16:creationId xmlns:a16="http://schemas.microsoft.com/office/drawing/2014/main" id="{A990A06D-1C8F-2D42-0243-6D58CC2D42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02997" y="1966144"/>
              <a:ext cx="1438275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73" name="Picture 38">
              <a:extLst>
                <a:ext uri="{FF2B5EF4-FFF2-40B4-BE49-F238E27FC236}">
                  <a16:creationId xmlns:a16="http://schemas.microsoft.com/office/drawing/2014/main" id="{CBF2DBF9-E9B8-D81A-514B-25CC375754A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3148" y="1966144"/>
              <a:ext cx="1438275" cy="3200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3" name="Rectangle 4">
            <a:extLst>
              <a:ext uri="{FF2B5EF4-FFF2-40B4-BE49-F238E27FC236}">
                <a16:creationId xmlns:a16="http://schemas.microsoft.com/office/drawing/2014/main" id="{41C2EB20-9657-B3CF-65E9-4150B73CE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232" y="445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EBF10A73-1683-832F-0064-67CD545934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832" y="104940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F78871F6-A133-E9D6-DA98-5CF5420A3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6721" y="5853859"/>
            <a:ext cx="2538867" cy="43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SMS Notifications</a:t>
            </a:r>
            <a:endParaRPr lang="en-US" sz="2200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42470451-858D-1F4F-E78B-2008375223C1}"/>
              </a:ext>
            </a:extLst>
          </p:cNvPr>
          <p:cNvSpPr txBox="1">
            <a:spLocks/>
          </p:cNvSpPr>
          <p:nvPr/>
        </p:nvSpPr>
        <p:spPr>
          <a:xfrm>
            <a:off x="7861874" y="5848783"/>
            <a:ext cx="2538867" cy="4318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b="1" dirty="0"/>
              <a:t>Email Notifications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3643479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129E22-EA78-5F52-9721-B782CDCB1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2FE46-C43F-6AE0-5A4A-535AD39A7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346594"/>
            <a:ext cx="8627166" cy="431831"/>
          </a:xfrm>
        </p:spPr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Results and Discussions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74DDAF7F-8E75-4252-4DD0-3246DF0BD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21825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E6DD5C07-0A25-2712-CA1D-9523DAADDA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65164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B9A357D-418B-20B8-B49C-2566126587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232" y="445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16DBAF6F-57A5-C8B2-06C8-CBF6757940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832" y="104940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ED650E4-4E21-9E8C-2F2A-069B0F7FE66C}"/>
              </a:ext>
            </a:extLst>
          </p:cNvPr>
          <p:cNvGrpSpPr/>
          <p:nvPr/>
        </p:nvGrpSpPr>
        <p:grpSpPr>
          <a:xfrm>
            <a:off x="579618" y="2325577"/>
            <a:ext cx="4953000" cy="2733675"/>
            <a:chOff x="184133" y="1861703"/>
            <a:chExt cx="4953000" cy="2733675"/>
          </a:xfrm>
        </p:grpSpPr>
        <p:pic>
          <p:nvPicPr>
            <p:cNvPr id="4099" name="Picture 3">
              <a:extLst>
                <a:ext uri="{FF2B5EF4-FFF2-40B4-BE49-F238E27FC236}">
                  <a16:creationId xmlns:a16="http://schemas.microsoft.com/office/drawing/2014/main" id="{AB6BA255-8D84-19AD-1F67-CD566F2DDE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133" y="1861703"/>
              <a:ext cx="1828800" cy="26574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8" name="Picture 2">
              <a:extLst>
                <a:ext uri="{FF2B5EF4-FFF2-40B4-BE49-F238E27FC236}">
                  <a16:creationId xmlns:a16="http://schemas.microsoft.com/office/drawing/2014/main" id="{826155AB-D7BE-4491-3E6F-B1126EC6CE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2383"/>
            <a:stretch>
              <a:fillRect/>
            </a:stretch>
          </p:blipFill>
          <p:spPr bwMode="auto">
            <a:xfrm>
              <a:off x="2012933" y="1861703"/>
              <a:ext cx="1628775" cy="27336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097" name="Picture 1">
              <a:extLst>
                <a:ext uri="{FF2B5EF4-FFF2-40B4-BE49-F238E27FC236}">
                  <a16:creationId xmlns:a16="http://schemas.microsoft.com/office/drawing/2014/main" id="{E20FA61B-3137-1866-6E4B-1374AF7B7F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1708" y="1861703"/>
              <a:ext cx="1495425" cy="26860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" name="Rectangle 4">
            <a:extLst>
              <a:ext uri="{FF2B5EF4-FFF2-40B4-BE49-F238E27FC236}">
                <a16:creationId xmlns:a16="http://schemas.microsoft.com/office/drawing/2014/main" id="{0355CE3A-15ED-41DB-C157-59B6F37411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025" y="8061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F3FD537D-64C1-6340-E072-A97AFB0D26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225" y="93405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2F519F6-009C-41A4-85D2-0DE5953383A1}"/>
              </a:ext>
            </a:extLst>
          </p:cNvPr>
          <p:cNvGrpSpPr/>
          <p:nvPr/>
        </p:nvGrpSpPr>
        <p:grpSpPr>
          <a:xfrm>
            <a:off x="6422518" y="2297668"/>
            <a:ext cx="5189864" cy="2943225"/>
            <a:chOff x="6760494" y="2297668"/>
            <a:chExt cx="5189864" cy="2943225"/>
          </a:xfrm>
        </p:grpSpPr>
        <p:pic>
          <p:nvPicPr>
            <p:cNvPr id="4104" name="Picture 8">
              <a:extLst>
                <a:ext uri="{FF2B5EF4-FFF2-40B4-BE49-F238E27FC236}">
                  <a16:creationId xmlns:a16="http://schemas.microsoft.com/office/drawing/2014/main" id="{82AF20CE-C9D1-6D2F-7BC8-519187ADCE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0494" y="2297668"/>
              <a:ext cx="1590675" cy="2914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3" name="Picture 7">
              <a:extLst>
                <a:ext uri="{FF2B5EF4-FFF2-40B4-BE49-F238E27FC236}">
                  <a16:creationId xmlns:a16="http://schemas.microsoft.com/office/drawing/2014/main" id="{C95B4262-69AA-5BF8-18A8-A40C9EF4802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30924" y="2297668"/>
              <a:ext cx="1590675" cy="291465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02" name="Picture 1">
              <a:extLst>
                <a:ext uri="{FF2B5EF4-FFF2-40B4-BE49-F238E27FC236}">
                  <a16:creationId xmlns:a16="http://schemas.microsoft.com/office/drawing/2014/main" id="{68431FD7-DBD5-7A01-3882-E3CB75193F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073933" y="2297668"/>
              <a:ext cx="1876425" cy="29432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7" name="Rectangle 9">
            <a:extLst>
              <a:ext uri="{FF2B5EF4-FFF2-40B4-BE49-F238E27FC236}">
                <a16:creationId xmlns:a16="http://schemas.microsoft.com/office/drawing/2014/main" id="{262DC762-FD2D-0786-7645-A403F6766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DB3DA735-45D6-5097-DC8D-D7DDC13044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229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F5414C42-375D-E9F4-5EA7-E2DB8C1BFB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308" y="5432735"/>
            <a:ext cx="2538867" cy="43183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200" b="1" dirty="0"/>
              <a:t>Passenger Web UI</a:t>
            </a:r>
            <a:endParaRPr lang="en-US" sz="2200" dirty="0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555382AD-276E-DDAC-CB14-06D82CD97A1E}"/>
              </a:ext>
            </a:extLst>
          </p:cNvPr>
          <p:cNvSpPr txBox="1">
            <a:spLocks/>
          </p:cNvSpPr>
          <p:nvPr/>
        </p:nvSpPr>
        <p:spPr>
          <a:xfrm>
            <a:off x="6966555" y="5507870"/>
            <a:ext cx="3742024" cy="43183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GB" sz="2200" b="1" dirty="0"/>
              <a:t>Driver/Bus Operator Web UI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11695412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7DE04-5E9C-6030-0413-6D8E90D6A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F49DC6-F1A0-E037-874F-F98E2617B0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346594"/>
            <a:ext cx="8627166" cy="431831"/>
          </a:xfrm>
        </p:spPr>
        <p:txBody>
          <a:bodyPr/>
          <a:lstStyle/>
          <a:p>
            <a:r>
              <a:rPr lang="en-GB" sz="2800" dirty="0">
                <a:solidFill>
                  <a:srgbClr val="C00000"/>
                </a:solidFill>
              </a:rPr>
              <a:t>Results and Discussions</a:t>
            </a: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FEC4CF32-04E0-A228-AF1A-496EAC58D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218259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6216C1D2-E96B-4671-A1CB-2E0B39C664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4741" y="651646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892F0834-9D4C-1452-7F99-20C970C7C2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27232" y="445168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F0A80DF9-6D8B-7C36-B4D5-4843B3644B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55832" y="10494043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9423C8F-E5C3-FD01-324C-4D6DB08464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7025" y="806116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9005EE32-6000-AA7E-8A3A-2A7E0720C0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4225" y="934051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0CDF9286-8EF4-38DC-8AFC-4F450A6410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sp>
        <p:nvSpPr>
          <p:cNvPr id="8" name="Rectangle 10">
            <a:extLst>
              <a:ext uri="{FF2B5EF4-FFF2-40B4-BE49-F238E27FC236}">
                <a16:creationId xmlns:a16="http://schemas.microsoft.com/office/drawing/2014/main" id="{9C0A9411-ECCE-2F0E-C3F6-FD740A9D44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9229725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LID4096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BD9ABE-722A-AC73-D4D0-0A7540A7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189" y="2593945"/>
            <a:ext cx="4958715" cy="2286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5C065E-440B-16D4-1374-E8974A6321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3555" y="2629505"/>
            <a:ext cx="4924425" cy="2250440"/>
          </a:xfrm>
          <a:prstGeom prst="rect">
            <a:avLst/>
          </a:prstGeom>
        </p:spPr>
      </p:pic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83D19F1-D086-F83F-CFAF-E9BF0D2EF8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566" y="1970516"/>
            <a:ext cx="2538867" cy="43183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sz="2200" b="1" dirty="0"/>
              <a:t>Admin Dashboard UI</a:t>
            </a: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2914139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F0B3DC-6B8C-AF96-826F-B9C6033781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9CAA4-1F86-2636-B072-DC31729E1A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485789"/>
            <a:ext cx="8627166" cy="431831"/>
          </a:xfrm>
        </p:spPr>
        <p:txBody>
          <a:bodyPr/>
          <a:lstStyle/>
          <a:p>
            <a:r>
              <a:rPr lang="en-US" sz="3200" dirty="0">
                <a:solidFill>
                  <a:srgbClr val="C00000"/>
                </a:solidFill>
              </a:rPr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DECD2-B1D6-BF86-2861-2CF84CB393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7681" y="2145239"/>
            <a:ext cx="11051237" cy="38710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GB" sz="2400" dirty="0" err="1"/>
              <a:t>FareFlow</a:t>
            </a:r>
            <a:r>
              <a:rPr lang="en-GB" sz="2400" dirty="0"/>
              <a:t> is a feasible, low-cost smart fare system that integrates RFID, IoT, and Cloud technologies.</a:t>
            </a:r>
          </a:p>
          <a:p>
            <a:r>
              <a:rPr lang="en-GB" sz="2400" b="1" dirty="0"/>
              <a:t>Key Achievements:</a:t>
            </a:r>
            <a:endParaRPr lang="en-GB" sz="2400" dirty="0"/>
          </a:p>
          <a:p>
            <a:pPr lvl="1"/>
            <a:r>
              <a:rPr lang="en-GB" b="1" dirty="0"/>
              <a:t>Transparency:</a:t>
            </a:r>
            <a:r>
              <a:rPr lang="en-GB" dirty="0"/>
              <a:t> Real-time logging and stakeholder notifications.</a:t>
            </a:r>
          </a:p>
          <a:p>
            <a:pPr lvl="1"/>
            <a:r>
              <a:rPr lang="en-GB" b="1" dirty="0"/>
              <a:t>Accountability:</a:t>
            </a:r>
            <a:r>
              <a:rPr lang="en-GB" dirty="0"/>
              <a:t> Reduced revenue leakage and human error.</a:t>
            </a:r>
          </a:p>
          <a:p>
            <a:pPr lvl="1"/>
            <a:r>
              <a:rPr lang="en-GB" b="1" dirty="0"/>
              <a:t>Hygiene Contribution:</a:t>
            </a:r>
            <a:r>
              <a:rPr lang="en-GB" dirty="0"/>
              <a:t> Contactless payments.</a:t>
            </a:r>
          </a:p>
          <a:p>
            <a:r>
              <a:rPr lang="en-GB" sz="2400" b="1" dirty="0"/>
              <a:t>Contribution:</a:t>
            </a:r>
            <a:r>
              <a:rPr lang="en-GB" sz="2400" dirty="0"/>
              <a:t> Directly supports </a:t>
            </a:r>
            <a:r>
              <a:rPr lang="en-GB" sz="2400" b="1" dirty="0"/>
              <a:t>SDG 9 &amp; SDG 11</a:t>
            </a:r>
            <a:r>
              <a:rPr lang="en-GB" sz="2400" dirty="0"/>
              <a:t>.</a:t>
            </a:r>
          </a:p>
          <a:p>
            <a:r>
              <a:rPr lang="en-GB" sz="2400" b="1" dirty="0"/>
              <a:t>Limitations &amp; Future Work:</a:t>
            </a:r>
            <a:endParaRPr lang="en-GB" sz="2400" dirty="0"/>
          </a:p>
          <a:p>
            <a:pPr lvl="1"/>
            <a:r>
              <a:rPr lang="en-GB" b="1" dirty="0"/>
              <a:t>Limitations:</a:t>
            </a:r>
            <a:r>
              <a:rPr lang="en-GB" dirty="0"/>
              <a:t> Internet dependency, non-rugged hardware, limited mobile money integration.</a:t>
            </a:r>
          </a:p>
          <a:p>
            <a:pPr lvl="1"/>
            <a:r>
              <a:rPr lang="en-GB" b="1" dirty="0"/>
              <a:t>Future Work:</a:t>
            </a:r>
            <a:r>
              <a:rPr lang="en-GB" dirty="0"/>
              <a:t> Integrate mobile money APIs (e.g., MTN, Airtel) or other similar services, develop rugged hardware casing, and conduct large-scale pilot testing.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05619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B2676F-CB65-65F1-B5E0-F3ED7A62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FAFC8D-A393-7C69-6221-C04B0F36D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1413" y="1572286"/>
            <a:ext cx="8627166" cy="431831"/>
          </a:xfrm>
        </p:spPr>
        <p:txBody>
          <a:bodyPr/>
          <a:lstStyle/>
          <a:p>
            <a:r>
              <a:rPr lang="en-GB" sz="3200" dirty="0">
                <a:solidFill>
                  <a:srgbClr val="C00000"/>
                </a:solidFill>
              </a:rPr>
              <a:t>Acknowledgements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3D2AF7-7245-315F-4A08-751E2DCEB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33670" y="2401752"/>
            <a:ext cx="10320130" cy="2883962"/>
          </a:xfrm>
        </p:spPr>
        <p:txBody>
          <a:bodyPr>
            <a:normAutofit/>
          </a:bodyPr>
          <a:lstStyle/>
          <a:p>
            <a:r>
              <a:rPr lang="en-GB" sz="2200" dirty="0"/>
              <a:t>I would like to express my sincere gratitude to my supervisor, </a:t>
            </a:r>
            <a:r>
              <a:rPr lang="en-GB" sz="2200" b="1" dirty="0"/>
              <a:t>Dr. Mayur Kumar </a:t>
            </a:r>
            <a:r>
              <a:rPr lang="en-GB" sz="2200" b="1" dirty="0" err="1"/>
              <a:t>Chhipa</a:t>
            </a:r>
            <a:r>
              <a:rPr lang="en-GB" sz="2200" dirty="0"/>
              <a:t>, for his invaluable guidance and support throughout this research.</a:t>
            </a:r>
          </a:p>
          <a:p>
            <a:r>
              <a:rPr lang="en-GB" sz="2200" dirty="0"/>
              <a:t>Thanks to the </a:t>
            </a:r>
            <a:r>
              <a:rPr lang="en-GB" sz="2200" b="1" dirty="0"/>
              <a:t>Department of Electronics and Communication Engineering, ISBAT University</a:t>
            </a:r>
            <a:r>
              <a:rPr lang="en-GB" sz="2200" dirty="0"/>
              <a:t>, for providing the resources and environment for this work.</a:t>
            </a:r>
          </a:p>
          <a:p>
            <a:r>
              <a:rPr lang="en-GB" sz="2200" dirty="0"/>
              <a:t>Thank you to the </a:t>
            </a:r>
            <a:r>
              <a:rPr lang="en-GB" sz="2200" b="1" dirty="0"/>
              <a:t>Organizers of this event </a:t>
            </a:r>
            <a:r>
              <a:rPr lang="en-GB" sz="2200" dirty="0"/>
              <a:t>for the opportunity to present our research.</a:t>
            </a:r>
          </a:p>
          <a:p>
            <a:r>
              <a:rPr lang="en-GB" sz="2200" b="1" dirty="0"/>
              <a:t>Thank You for Your Attention</a:t>
            </a:r>
            <a:endParaRPr lang="en-GB" sz="2200" dirty="0"/>
          </a:p>
          <a:p>
            <a:pPr marL="0" indent="0">
              <a:buNone/>
            </a:pPr>
            <a:endParaRPr lang="en-US" sz="2200" dirty="0"/>
          </a:p>
        </p:txBody>
      </p:sp>
    </p:spTree>
    <p:extLst>
      <p:ext uri="{BB962C8B-B14F-4D97-AF65-F5344CB8AC3E}">
        <p14:creationId xmlns:p14="http://schemas.microsoft.com/office/powerpoint/2010/main" val="39934790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123AA-8C91-1060-728D-7DE7E22E7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6270" y="3154343"/>
            <a:ext cx="8627166" cy="431831"/>
          </a:xfrm>
        </p:spPr>
        <p:txBody>
          <a:bodyPr/>
          <a:lstStyle/>
          <a:p>
            <a:r>
              <a:rPr lang="en-US" sz="6000" dirty="0">
                <a:solidFill>
                  <a:srgbClr val="C00000"/>
                </a:solidFill>
                <a:latin typeface="Edwardian Script ITC" panose="030303020407070D0804" pitchFamily="66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01722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721</Words>
  <Application>Microsoft Office PowerPoint</Application>
  <PresentationFormat>Widescreen</PresentationFormat>
  <Paragraphs>112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3" baseType="lpstr">
      <vt:lpstr>Arial</vt:lpstr>
      <vt:lpstr>Calibri</vt:lpstr>
      <vt:lpstr>Cambria Math</vt:lpstr>
      <vt:lpstr>Courier New</vt:lpstr>
      <vt:lpstr>Edwardian Script ITC</vt:lpstr>
      <vt:lpstr>Gill Sans MT</vt:lpstr>
      <vt:lpstr>Times New Roman</vt:lpstr>
      <vt:lpstr>Office Theme</vt:lpstr>
      <vt:lpstr>FareFlow: An IoT and Cloud-Based Smart Bus Fare Collection System for Sustainable Urban Transport</vt:lpstr>
      <vt:lpstr> Content</vt:lpstr>
      <vt:lpstr>Introduction</vt:lpstr>
      <vt:lpstr>Research Motivation</vt:lpstr>
      <vt:lpstr>Literature Review</vt:lpstr>
      <vt:lpstr>Methodology</vt:lpstr>
      <vt:lpstr>Methodology</vt:lpstr>
      <vt:lpstr>Models and Analysis</vt:lpstr>
      <vt:lpstr>Results and Discussions</vt:lpstr>
      <vt:lpstr>Results and Discussions</vt:lpstr>
      <vt:lpstr>Results and Discussions</vt:lpstr>
      <vt:lpstr>Results and Discussions</vt:lpstr>
      <vt:lpstr>Conclusion</vt:lpstr>
      <vt:lpstr>Acknowledgements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Paper Title</dc:title>
  <dc:creator>Edwin Mugume</dc:creator>
  <cp:lastModifiedBy>Samuel Lunghe</cp:lastModifiedBy>
  <cp:revision>10</cp:revision>
  <dcterms:created xsi:type="dcterms:W3CDTF">2023-09-28T20:22:26Z</dcterms:created>
  <dcterms:modified xsi:type="dcterms:W3CDTF">2025-09-29T19:23:44Z</dcterms:modified>
</cp:coreProperties>
</file>