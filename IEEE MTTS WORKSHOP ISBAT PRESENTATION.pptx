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90" r:id="rId2"/>
    <p:sldMasterId id="2147483678" r:id="rId3"/>
    <p:sldMasterId id="2147483666" r:id="rId4"/>
  </p:sldMasterIdLst>
  <p:notesMasterIdLst>
    <p:notesMasterId r:id="rId8"/>
  </p:notesMasterIdLst>
  <p:sldIdLst>
    <p:sldId id="256" r:id="rId5"/>
    <p:sldId id="257" r:id="rId6"/>
    <p:sldId id="258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9" roundtripDataSignature="AMtx7mjZD/85SnxZSJTUQMeLFOmui52m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 varScale="1">
        <p:scale>
          <a:sx n="78" d="100"/>
          <a:sy n="78" d="100"/>
        </p:scale>
        <p:origin x="16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136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20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28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CE9D2B4-0072-70A5-CCDE-959AE321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83E84D51-EAFD-6143-4980-46AB0AD7E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D7A62D4C-2C82-E8D0-1180-7B2A06054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592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descr="IEEE_TAG_BLU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6019800"/>
            <a:ext cx="114300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1295400" y="822325"/>
            <a:ext cx="716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1271588" y="3962400"/>
            <a:ext cx="391953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760"/>
              <a:buFont typeface="Noto Sans Symbols"/>
              <a:buNone/>
              <a:defRPr sz="2200" b="1">
                <a:solidFill>
                  <a:schemeClr val="dk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 userDrawn="1"/>
        </p:nvSpPr>
        <p:spPr>
          <a:xfrm>
            <a:off x="2168434" y="6348550"/>
            <a:ext cx="540225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2025 IEEE MTT-S BPC Workshop</a:t>
            </a:r>
            <a:r>
              <a:rPr lang="en-US" sz="1200" b="1" i="1" u="none" strike="noStrike" cap="none" baseline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– Kigali, Rwanda</a:t>
            </a:r>
            <a:endParaRPr lang="en-US" sz="1200" b="1" i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CEF7AF5-41C7-5DFD-807B-26036835B4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875420"/>
            <a:ext cx="930109" cy="9301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SzPts val="2240"/>
              <a:buFont typeface="Verdana"/>
              <a:buChar char="•"/>
              <a:defRPr/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Verdana"/>
              <a:buChar char="–"/>
              <a:defRPr/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rgbClr val="595959"/>
              </a:buClr>
              <a:buSzPts val="2200"/>
              <a:buChar char="▪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Font typeface="Verdana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Font typeface="Verdana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SzPts val="224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SzPts val="2240"/>
              <a:buFont typeface="Verdana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Verdana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SzPts val="192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Font typeface="Verdana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SzPts val="1920"/>
              <a:buFont typeface="Verdana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SzPts val="2560"/>
              <a:buFont typeface="Verdana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Font typeface="Verdana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12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560"/>
              <a:buFont typeface="Verdana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120"/>
              <a:buFont typeface="Verdana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Verdana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1219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533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676275" y="60960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676275" y="200025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76775" y="200025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3"/>
          </p:nvPr>
        </p:nvSpPr>
        <p:spPr>
          <a:xfrm>
            <a:off x="4676775" y="413385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666750" y="59055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2"/>
          </p:nvPr>
        </p:nvSpPr>
        <p:spPr>
          <a:xfrm>
            <a:off x="4610100" y="19812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3"/>
          </p:nvPr>
        </p:nvSpPr>
        <p:spPr>
          <a:xfrm>
            <a:off x="609600" y="41148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4"/>
          </p:nvPr>
        </p:nvSpPr>
        <p:spPr>
          <a:xfrm>
            <a:off x="4610100" y="41148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OBJECT_AND_TWO_OBJEC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685800" y="59055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695325" y="198120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xfrm>
            <a:off x="4695825" y="19812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3"/>
          </p:nvPr>
        </p:nvSpPr>
        <p:spPr>
          <a:xfrm>
            <a:off x="4695825" y="4114800"/>
            <a:ext cx="38481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676275" y="60960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2"/>
          </p:nvPr>
        </p:nvSpPr>
        <p:spPr>
          <a:xfrm>
            <a:off x="4610100" y="198120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9EFB-2A68-3F22-29D8-784C4B236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2206D-835F-406A-AAC9-F0A80A6C6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855EF-B66D-9DC2-9C56-9A4EA7C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4BBE-3ABC-B2A5-4E4F-39127759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E3AC-CF83-B3A7-1256-07E1AE16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86979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6CD8-27CA-1C10-8423-E644FAAB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687E-367B-51BA-C23F-947974F0F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1117-3FA5-F7DE-07ED-ACFD903D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BD8A1-5FDF-B3EE-3953-218D09EA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314A0-1BD0-32E1-443B-4103C8A6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7208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5018-FC48-672B-4FED-5FCDC8FA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45952-0276-3539-57C3-CDD4AB7F3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80C52-52AD-888C-25A4-C368F7DA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EE35C-3149-0560-ECCB-4DF23885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EF52-573D-6A2C-B78F-88C83ED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643824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3A50-2128-7ADC-2E0D-D905815E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D7086-9ECC-D1A6-FA1F-C06E8A71C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E9CF3-79EF-149D-804B-5E2C89215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D716E-08F2-C7DF-6200-A62A3A3A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E053D-840A-D96A-D790-43572BC3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EE1E5-4576-D950-5D44-58ADC5FA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264692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ADD1-21F7-13E9-0BB9-B819D6BA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DD85-14F4-AB50-3F4A-FF5BFEB72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A4697-103F-3066-66E6-568B21126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61D40-9437-5987-105C-A716BDA20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D5592-B2B0-97B9-1425-1203DCD20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8A3F0-0DA8-DA42-AA2F-FBDF8203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DCB10-80FB-B5F2-F9E1-6374219D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30AC9-CE26-C12E-310A-322BCBB5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923742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449B-5D4B-518A-731E-94D5379C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CF418-7F00-C526-ED46-E36EA4E2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54218-562E-DE7D-CF84-F306A584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1E84F-6D71-CBBA-F84A-51A4275D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04432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99E7A-E951-2C0A-7C3F-E7800578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43622-4F9F-D603-E058-93FB2DD7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46E95-5A82-FB94-0201-9DB86A96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302657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921F-E62F-6DF9-55BD-6240376C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D1BE-FB50-B672-86D1-78C59F99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D45A8-5E10-8572-D330-1F5CDCEBD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5119B-39F8-52F2-ACAB-246276FC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B56D0-7B80-E0FC-9412-0609E95B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65D64-5A25-E47C-C6CD-9199AC78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832242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74EB-BDB4-4186-1291-92294688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CE467-7E0C-79E1-0010-9CF64B9B7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AA802-2282-1B00-A5F2-0237C60E0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190F3-6850-9DB8-8326-B45AE99F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8A2B8-8803-1162-B068-83D38542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FA5E1-70A3-82BE-4F45-6AAD4ABE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948039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FB07-6086-7575-64FD-2125EF34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B2465-06F0-9066-3A02-E4F414027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021B-DB3F-FF75-4DA3-F7D337DD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16F1F-D03C-8237-2D48-40BADAD1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C0B0-A2E8-D353-9826-6C5D823B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5912693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3F03F-6473-22C6-E946-772364C87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5BAC7-DC06-23B2-420D-882B033FC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AC058-F2BA-DB44-15F4-D9E97628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CD12-CB15-75A9-19A5-A89CD71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E25AF-E5CA-D9D2-A441-E19E7121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7035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26EB-78DA-794D-1704-CFDF8325C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27D78-EDE4-8547-5722-56151A4FC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EA6D4-BB45-15C0-31D9-72524D0B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406DC-17E4-DCC4-087F-E6913C30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5CAB2-6CF8-713F-9BAF-44FF263E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033171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FA63-0341-7CF4-E4E9-F278C5FC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CD01-9672-9C88-A450-263016E84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4DABC-1F36-EEA7-83A6-929D3880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15B41-56E7-65A5-7F46-D78F4C88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E46B2-6F45-AB5E-BA00-1F270C09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332397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5B57-F4B8-8490-CFAD-8B48B601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6B591-7307-49D5-76D0-1C01BA0A6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B11BD-4ABC-A4EF-551D-4CE86E9C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D862-E7C6-900D-9DC5-88467998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DB97-7396-D103-A5C8-8100206A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3054023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CB4D-2E7A-0296-FD47-227DC193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F1DE6-B2FF-57DD-4728-862F39BA7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D6DB1-7A38-7B22-1385-F80692F2C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8A300-C644-1ACC-2626-EB2898D8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B600F-617C-556C-C195-6E8AAAD1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0A14A-DCA9-75AB-1F26-A751192D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892298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9F7A-7FE7-524B-3474-35091D20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75C51-AFD7-C85C-4E14-C2586659E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A4230-F6A3-CD3D-BBF4-67D625D8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67E9-6AD3-0370-D483-8F69FE15D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8F2AF-E99F-85D5-3608-DC4BB6DCE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B0941-F5A4-937F-DDEB-4F0204CC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45368-A604-B1CE-1FB5-A74E6321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D1273-2720-DB46-3763-E833744F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53949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7B7A-AD66-F581-CBD1-CE8E05FA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C214C-1E67-6165-205F-28FFD1C4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9A522-A476-7446-FDE6-9C0023747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02C6C-B69F-71D4-02CF-C45BFBAE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5945651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93217-6C91-59AB-05BE-E057D8C1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65F8E-F218-12DF-A9D0-B14069FA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6F15C-1A3A-010C-12E9-FDE84CE4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075434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A1BB-C9DB-4BA6-CCDC-D97E0608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AAC2-AE34-EAA7-61C3-5EAA21FBF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CC19E-7044-C5F6-D3C4-4B9A66D1A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F4D71-3F59-D818-D34A-D5DEA8DC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175AE-BFA8-F857-3ABA-D4232116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240BD-9F2C-2402-1409-C2E8B9EA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1093330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48F7-FB23-6A8F-DA94-7590024C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AC774-BCAF-06B8-B299-9AF7646D8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9F51C-0952-24B4-C4DA-4BA5312E0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AD293-7896-6333-ACB3-E351AC18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C775A-82E8-9A85-7077-0A860F09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69DD8-31A3-85F2-9F9F-F89CA0BF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6908575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0F2C-BAA4-24C4-7FF1-88015E18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2D76C-D4A7-2374-1522-81A86F133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195D0-C0BE-DDC2-723D-BE3867EB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FFD95-60EC-7C4A-6266-C70D0041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BEF9E-42AC-8B73-096A-C66BE171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1232596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18B97-C35E-F45F-82BE-2C39F5CDA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C2661-0BED-2D26-73D3-293F1135D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A3739-6AA2-AC4E-90AE-7B56C20D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ED73-E0D6-F33F-0F3F-557643BC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554E1-3AE0-DD70-E8CC-6DB62EF7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0573816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4C11-4570-B8CF-95F2-B734422E6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AE5BA-08BB-77CC-805A-B8128F0F5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22EDF-4766-72BC-836E-6EB478017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71EB-A440-59B4-6A8A-A05DD33A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E7BA-8ED3-454F-CE0B-3C78A63B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477202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C888-A1C4-53B7-6B91-A594647F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6-5FB4-43B2-C11E-E55655EC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BEED-8FC5-84F0-5F3F-0803CD94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A3603-7523-ADCE-43D2-8041DEF3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3582F-221A-FDED-87B2-75C88354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778441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9933-E488-FD01-0DDC-E9A85365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62E61-F2A8-6C42-7C85-0DC28947E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27C0-80A9-59CA-0555-A9030B4C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C2E47-EE08-1C61-5B02-657F2A37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17DE-725F-ACC4-92A8-CB0EC509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7833957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3E4F-9C81-B729-FCB2-DC19E0A9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8E55-FB44-A5B4-6232-3D8362471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618CD-B3AF-E414-9B24-8FCC6A80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6384C-3BDC-3BE0-BAB3-5E010BE2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F1860-3537-14E1-F261-14AD017A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E1A90-CC59-4F24-9F8C-C28B7463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3499730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1ACD-7F72-E058-F460-8E4A85B7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2F1DF-09B2-A8A0-CDC2-9351A9F9C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4EB2D-B726-ECAF-161E-918ADF108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AE8D2-557E-0D2F-0B40-67C509F40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5EE38-160B-9EB8-6A34-954BAA013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A7E6D-F645-D40F-043F-9CA65A6C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01119-AC74-E3A7-1147-7F2666B6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1BAE1-7A78-CED5-8E5A-A2638C1C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1981623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51A4-439D-C508-4FAE-7F328175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E7B74-2096-6811-FC8E-EA6D1057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18ADC-7D31-521F-A194-48DE0335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AB6A1-E059-B1FA-C776-7223FE83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317326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EDB45-A2B4-5FD0-176F-65880A10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44431-427A-DFB1-DACD-F07F7C67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D48C3-5B05-EA02-3E7B-094A7A30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9588062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167F-CE00-D12C-342C-25C1CCC5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7B2A-EDE5-BD2E-9791-AC6316FB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E6CD0-DD6F-1DE3-22EC-DE72615DB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88AB0-36CE-6F89-AE85-AC4D6851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20727-EC9F-CF5B-3898-58583510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7910-E445-859A-969E-99421C10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0527365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612F-1793-55EE-5AA1-7A886C2C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350B8-70F3-0044-4620-625C6B898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76A09-D36D-61DE-E942-31BA140C2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E0695-EAA4-6376-54DB-57BF4480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A19EE-DE7F-85BA-14BF-402E0B79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DA023-6B57-53A2-D0E5-6D1F13E4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349459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DCEE-44B2-FD28-BBF2-EF2EE03D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908DD-C77E-889A-0C8D-4D0B6C028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632EB-EB38-74BF-6F7F-D30FFFDB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6EC3F-7F84-EF7D-22EC-4B25041F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BCDE9-C8C2-DFB9-ABC4-7D64F457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0841602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0303C-D5D0-8D09-CA2F-0D43EF9EB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E5CAD-681F-350B-5212-ADF7255B0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21C2C-0590-5CB6-FF88-4EE7D06F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7B49-705D-4AFB-A25D-EE583B1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60A0-286C-587B-8317-3D5D9AFF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2552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Verdana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Verdana"/>
              <a:buChar char="–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pic>
        <p:nvPicPr>
          <p:cNvPr id="12" name="Google Shape;12;p3" descr="IEEE_TAG_BLU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41677" y="5947587"/>
            <a:ext cx="914400" cy="51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/>
        </p:nvSpPr>
        <p:spPr>
          <a:xfrm>
            <a:off x="2178422" y="6581041"/>
            <a:ext cx="529668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2025 IEEE MTT-S BPC Workshop</a:t>
            </a:r>
            <a:r>
              <a:rPr lang="en-US" sz="1200" b="1" i="1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– Kigali, Rwanda</a:t>
            </a:r>
            <a:endParaRPr sz="1200" b="1" i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CF14620A-BBB7-6FDB-D635-A71F1445CCD1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-71582" y="5767639"/>
            <a:ext cx="872657" cy="8726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E903A1-9F50-6888-3E39-82C7E3EA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C3C76-E7CF-FF6F-F851-C61393C26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089DF-F58C-4C7B-C963-5B488C301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0BB32-EE6F-4BB3-97B3-20C77275A0CC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2127-E41F-570A-C8B1-2ED336D89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FC08-7597-E838-E13E-E43FBDD51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63626-D9D4-4690-946B-0D6C1AF0749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485808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299D0-25D4-77AE-D2BF-325B4A00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9CD0B-3064-8E95-3F44-7641EB6D6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80D10-A233-1945-FF88-ABD56CE80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F8D8F-8E86-4DD8-A0A9-A5B51A6AAFAD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CBD3-6FE4-3D08-8699-1E6FBE47C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EF83-6635-105A-1B3E-97336A071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1EED1-8C8D-44F3-9E3E-9F6EBADD42CC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7436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5F993-8B31-9E75-2D0F-B6993E84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6CAA9-355F-87AE-537F-8B6DAE05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5EA04-ECAF-080F-CEB9-BDB42FCFF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74B2D-8E29-4D56-A9BF-5258C9F93382}" type="datetimeFigureOut">
              <a:rPr lang="en-RW" smtClean="0"/>
              <a:t>10/14/2025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B8920-562C-D119-560A-DC8F2F622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FABA-7CCB-5BB6-6EC6-1B71E366C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AE21D-D5EB-4FC1-93B0-7D7B87E044DA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10737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>
            <a:spLocks noGrp="1"/>
          </p:cNvSpPr>
          <p:nvPr>
            <p:ph type="ctrTitle"/>
          </p:nvPr>
        </p:nvSpPr>
        <p:spPr>
          <a:xfrm>
            <a:off x="179173" y="1162683"/>
            <a:ext cx="87856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GB" sz="3200" dirty="0"/>
              <a:t>A Machine Learning-Optimized Reconfigurable Intelligent Surface for Robust THz</a:t>
            </a:r>
            <a:br>
              <a:rPr lang="en-GB" sz="3200" dirty="0"/>
            </a:br>
            <a:r>
              <a:rPr lang="en-GB" sz="3200" dirty="0"/>
              <a:t>Indoor Communications</a:t>
            </a:r>
            <a:endParaRPr sz="3200" dirty="0"/>
          </a:p>
        </p:txBody>
      </p:sp>
      <p:sp>
        <p:nvSpPr>
          <p:cNvPr id="105" name="Google Shape;105;p1"/>
          <p:cNvSpPr txBox="1">
            <a:spLocks noGrp="1"/>
          </p:cNvSpPr>
          <p:nvPr>
            <p:ph type="subTitle" idx="1"/>
          </p:nvPr>
        </p:nvSpPr>
        <p:spPr>
          <a:xfrm>
            <a:off x="1197447" y="4237572"/>
            <a:ext cx="7186612" cy="159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None/>
            </a:pPr>
            <a:r>
              <a:rPr lang="en-US" dirty="0"/>
              <a:t>PUTSHU LUNGHE Samuel, ISBAT University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None/>
            </a:pPr>
            <a:r>
              <a:rPr lang="en-US" dirty="0"/>
              <a:t>Credo HOLIDAY, ISBAT University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None/>
            </a:pPr>
            <a:r>
              <a:rPr lang="en-US" dirty="0"/>
              <a:t>Liesel ABIGAIL, ISBAT University</a:t>
            </a:r>
            <a:endParaRPr dirty="0"/>
          </a:p>
        </p:txBody>
      </p:sp>
      <p:sp>
        <p:nvSpPr>
          <p:cNvPr id="107" name="Google Shape;107;p1"/>
          <p:cNvSpPr txBox="1"/>
          <p:nvPr/>
        </p:nvSpPr>
        <p:spPr>
          <a:xfrm>
            <a:off x="2547257" y="6348549"/>
            <a:ext cx="47418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1" dirty="0">
              <a:solidFill>
                <a:srgbClr val="003F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5900F2-EAFA-5652-4134-41D43C49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82" t="10809" r="13287" b="11532"/>
          <a:stretch>
            <a:fillRect/>
          </a:stretch>
        </p:blipFill>
        <p:spPr>
          <a:xfrm>
            <a:off x="-10202" y="753761"/>
            <a:ext cx="4120562" cy="501684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B04E63-9C2F-60F5-FA94-83AD3A24882C}"/>
              </a:ext>
            </a:extLst>
          </p:cNvPr>
          <p:cNvSpPr/>
          <p:nvPr/>
        </p:nvSpPr>
        <p:spPr>
          <a:xfrm>
            <a:off x="5098094" y="429766"/>
            <a:ext cx="2545493" cy="45720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Phase 1: Meta-Atom Design</a:t>
            </a:r>
            <a:endParaRPr lang="LID4096" sz="1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5D3584-92FB-8E84-6870-A74CD46D8D30}"/>
              </a:ext>
            </a:extLst>
          </p:cNvPr>
          <p:cNvSpPr/>
          <p:nvPr/>
        </p:nvSpPr>
        <p:spPr>
          <a:xfrm>
            <a:off x="5153315" y="3245552"/>
            <a:ext cx="2545493" cy="45720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Phase 2: System </a:t>
            </a:r>
            <a:r>
              <a:rPr lang="en-GB" sz="1100" b="1" dirty="0" err="1"/>
              <a:t>Modeling</a:t>
            </a:r>
            <a:r>
              <a:rPr lang="en-GB" sz="1100" b="1" dirty="0"/>
              <a:t> &amp; Optimization</a:t>
            </a:r>
            <a:endParaRPr lang="LID4096" sz="11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EC0295-0F74-4870-5888-158B481DC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150" y="1218801"/>
            <a:ext cx="2388330" cy="17903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8FCE50-95D8-A869-DF22-D54C49BF8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480" y="1149136"/>
            <a:ext cx="2592215" cy="194314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9F697A-E7B6-4F73-0ECF-6B3D842EA4FF}"/>
              </a:ext>
            </a:extLst>
          </p:cNvPr>
          <p:cNvSpPr/>
          <p:nvPr/>
        </p:nvSpPr>
        <p:spPr>
          <a:xfrm>
            <a:off x="5098094" y="5946317"/>
            <a:ext cx="2545493" cy="45720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Phase 3: Performance Analysis</a:t>
            </a:r>
            <a:endParaRPr lang="LID4096" sz="11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C1E610-3E58-1437-0C8E-86E5163E7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237" y="3939193"/>
            <a:ext cx="2552637" cy="187157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F4944B-924F-2996-F7C7-D7D62A108EA3}"/>
              </a:ext>
            </a:extLst>
          </p:cNvPr>
          <p:cNvCxnSpPr>
            <a:stCxn id="7" idx="3"/>
          </p:cNvCxnSpPr>
          <p:nvPr/>
        </p:nvCxnSpPr>
        <p:spPr>
          <a:xfrm>
            <a:off x="7643587" y="658367"/>
            <a:ext cx="12961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A4C237-3176-BB55-F996-5AD6E6FCB79E}"/>
              </a:ext>
            </a:extLst>
          </p:cNvPr>
          <p:cNvCxnSpPr/>
          <p:nvPr/>
        </p:nvCxnSpPr>
        <p:spPr>
          <a:xfrm>
            <a:off x="8939695" y="658367"/>
            <a:ext cx="0" cy="27706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C4DA7D-3660-1EB9-5709-55B068200A45}"/>
              </a:ext>
            </a:extLst>
          </p:cNvPr>
          <p:cNvCxnSpPr/>
          <p:nvPr/>
        </p:nvCxnSpPr>
        <p:spPr>
          <a:xfrm flipH="1">
            <a:off x="7698808" y="3429000"/>
            <a:ext cx="124088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4354DA-24D7-043E-87E5-1BAC53C89BA0}"/>
              </a:ext>
            </a:extLst>
          </p:cNvPr>
          <p:cNvCxnSpPr>
            <a:cxnSpLocks/>
          </p:cNvCxnSpPr>
          <p:nvPr/>
        </p:nvCxnSpPr>
        <p:spPr>
          <a:xfrm>
            <a:off x="4532452" y="3474153"/>
            <a:ext cx="0" cy="27254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A4E328-4DBC-2857-E4C9-82FD8CE508F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28557" y="3469374"/>
            <a:ext cx="624758" cy="47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5125A5-D729-F836-C078-29013E7A56C9}"/>
              </a:ext>
            </a:extLst>
          </p:cNvPr>
          <p:cNvCxnSpPr/>
          <p:nvPr/>
        </p:nvCxnSpPr>
        <p:spPr>
          <a:xfrm>
            <a:off x="4528557" y="6199633"/>
            <a:ext cx="5695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B106018-922F-1BFB-BAFA-84E91203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F6937-9CC6-9903-6360-F0CD9D2A50BF}"/>
              </a:ext>
            </a:extLst>
          </p:cNvPr>
          <p:cNvSpPr txBox="1"/>
          <p:nvPr/>
        </p:nvSpPr>
        <p:spPr>
          <a:xfrm>
            <a:off x="500448" y="1269537"/>
            <a:ext cx="84087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HelveticaNeue Regular"/>
              </a:rPr>
              <a:t>M. A.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HelveticaNeue Regular"/>
              </a:rPr>
              <a:t>ElMossallamy</a:t>
            </a:r>
            <a:r>
              <a:rPr lang="en-GB" b="0" i="0" dirty="0">
                <a:solidFill>
                  <a:srgbClr val="333333"/>
                </a:solidFill>
                <a:effectLst/>
                <a:latin typeface="HelveticaNeue Regular"/>
              </a:rPr>
              <a:t>, H. Zhang, L. Song, K. G. Seddik, Z. Han and G. Y. Li, "Reconfigurable Intelligent Surfaces for Wireless Communications: Principles, Challenges, and Opportunities," in </a:t>
            </a:r>
            <a:r>
              <a:rPr lang="en-GB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Cognitive Communications and Networking</a:t>
            </a:r>
            <a:r>
              <a:rPr lang="en-GB" b="0" i="0" dirty="0">
                <a:solidFill>
                  <a:srgbClr val="333333"/>
                </a:solidFill>
                <a:effectLst/>
                <a:latin typeface="HelveticaNeue Regular"/>
              </a:rPr>
              <a:t>, vol. 6, no. 3, pp. 990-1002, Sept. 2020,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GB" b="0" i="0" dirty="0">
                <a:solidFill>
                  <a:srgbClr val="333333"/>
                </a:solidFill>
                <a:effectLst/>
                <a:latin typeface="HelveticaNeue Regular"/>
              </a:rPr>
              <a:t>: 10.1109/TCCN.2020.2992604.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59FA7-4300-53F1-9927-AD324782A34F}"/>
              </a:ext>
            </a:extLst>
          </p:cNvPr>
          <p:cNvSpPr txBox="1"/>
          <p:nvPr/>
        </p:nvSpPr>
        <p:spPr>
          <a:xfrm>
            <a:off x="500448" y="2654531"/>
            <a:ext cx="8408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Yang, F., </a:t>
            </a:r>
            <a:r>
              <a:rPr lang="en-GB" dirty="0" err="1"/>
              <a:t>Pitchappa</a:t>
            </a:r>
            <a:r>
              <a:rPr lang="en-GB" dirty="0"/>
              <a:t>, P., &amp; Wang, N. (2022). Terahertz Reconfigurable Intelligent Surfaces (RISs) for 6G Communication Links. </a:t>
            </a:r>
            <a:r>
              <a:rPr lang="en-GB" i="1" dirty="0"/>
              <a:t>Micromachines</a:t>
            </a:r>
            <a:r>
              <a:rPr lang="en-GB" dirty="0"/>
              <a:t>, </a:t>
            </a:r>
            <a:r>
              <a:rPr lang="en-GB" i="1" dirty="0"/>
              <a:t>13</a:t>
            </a:r>
            <a:r>
              <a:rPr lang="en-GB" dirty="0"/>
              <a:t>(2), 285. https://doi.org/10.3390/mi13020285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9190C-EFAD-AC52-2CE9-0FE890505845}"/>
              </a:ext>
            </a:extLst>
          </p:cNvPr>
          <p:cNvSpPr txBox="1"/>
          <p:nvPr/>
        </p:nvSpPr>
        <p:spPr>
          <a:xfrm>
            <a:off x="500448" y="3680249"/>
            <a:ext cx="84087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Khaleel, S. A., Hamad, E. K. I., Parchin, N. O., &amp; Saleh, M. B. (2023). Programmable Beam-Steering Capabilities Based on Graphene Plasmonic THz MIMO Antenna via Reconfigurable Intelligent Surfaces (RIS) for IoT Applications. </a:t>
            </a:r>
            <a:r>
              <a:rPr lang="en-GB" i="1" dirty="0"/>
              <a:t>Electronics</a:t>
            </a:r>
            <a:r>
              <a:rPr lang="en-GB" dirty="0"/>
              <a:t>, </a:t>
            </a:r>
            <a:r>
              <a:rPr lang="en-GB" i="1" dirty="0"/>
              <a:t>12</a:t>
            </a:r>
            <a:r>
              <a:rPr lang="en-GB" dirty="0"/>
              <a:t>(1), 164. https://doi.org/10.3390/electronics12010164</a:t>
            </a:r>
            <a:endParaRPr lang="LID4096" dirty="0"/>
          </a:p>
        </p:txBody>
      </p:sp>
      <p:sp>
        <p:nvSpPr>
          <p:cNvPr id="9" name="Google Shape;105;p1">
            <a:extLst>
              <a:ext uri="{FF2B5EF4-FFF2-40B4-BE49-F238E27FC236}">
                <a16:creationId xmlns:a16="http://schemas.microsoft.com/office/drawing/2014/main" id="{C9D6DC5B-ABA2-70BB-6A91-69EA734EA204}"/>
              </a:ext>
            </a:extLst>
          </p:cNvPr>
          <p:cNvSpPr txBox="1">
            <a:spLocks/>
          </p:cNvSpPr>
          <p:nvPr/>
        </p:nvSpPr>
        <p:spPr>
          <a:xfrm>
            <a:off x="500448" y="712687"/>
            <a:ext cx="2151234" cy="55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Verdana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Verdana"/>
              <a:buChar char="–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Noto Sans Symbols"/>
              <a:buChar char="▪"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Verdana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SzPts val="1760"/>
              <a:buFont typeface="Noto Sans Symbols"/>
              <a:buNone/>
            </a:pPr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73414423"/>
      </p:ext>
    </p:extLst>
  </p:cSld>
  <p:clrMapOvr>
    <a:masterClrMapping/>
  </p:clrMapOvr>
</p:sld>
</file>

<file path=ppt/theme/theme1.xml><?xml version="1.0" encoding="utf-8"?>
<a:theme xmlns:a="http://schemas.openxmlformats.org/drawingml/2006/main" name="ieee_corporate_template_1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233</Words>
  <Application>Microsoft Office PowerPoint</Application>
  <PresentationFormat>On-screen Show (4:3)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HelveticaNeue Regular</vt:lpstr>
      <vt:lpstr>Noto Sans Symbols</vt:lpstr>
      <vt:lpstr>Verdana</vt:lpstr>
      <vt:lpstr>ieee_corporate_template_1</vt:lpstr>
      <vt:lpstr>2_Custom Design</vt:lpstr>
      <vt:lpstr>1_Custom Design</vt:lpstr>
      <vt:lpstr>Custom Design</vt:lpstr>
      <vt:lpstr>A Machine Learning-Optimized Reconfigurable Intelligent Surface for Robust THz Indoor Communications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ftardo</dc:creator>
  <cp:lastModifiedBy>Samuel Lunghe</cp:lastModifiedBy>
  <cp:revision>12</cp:revision>
  <dcterms:created xsi:type="dcterms:W3CDTF">2010-02-05T19:49:13Z</dcterms:created>
  <dcterms:modified xsi:type="dcterms:W3CDTF">2025-10-14T14:48:33Z</dcterms:modified>
</cp:coreProperties>
</file>